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52"/>
  </p:notesMasterIdLst>
  <p:sldIdLst>
    <p:sldId id="256" r:id="rId2"/>
    <p:sldId id="324" r:id="rId3"/>
    <p:sldId id="258" r:id="rId4"/>
    <p:sldId id="329" r:id="rId5"/>
    <p:sldId id="259" r:id="rId6"/>
    <p:sldId id="260" r:id="rId7"/>
    <p:sldId id="320" r:id="rId8"/>
    <p:sldId id="321" r:id="rId9"/>
    <p:sldId id="311" r:id="rId10"/>
    <p:sldId id="261" r:id="rId11"/>
    <p:sldId id="262" r:id="rId12"/>
    <p:sldId id="263" r:id="rId13"/>
    <p:sldId id="322" r:id="rId14"/>
    <p:sldId id="264" r:id="rId15"/>
    <p:sldId id="265" r:id="rId16"/>
    <p:sldId id="266" r:id="rId17"/>
    <p:sldId id="267" r:id="rId18"/>
    <p:sldId id="268" r:id="rId19"/>
    <p:sldId id="312" r:id="rId20"/>
    <p:sldId id="269" r:id="rId21"/>
    <p:sldId id="270" r:id="rId22"/>
    <p:sldId id="271" r:id="rId23"/>
    <p:sldId id="313" r:id="rId24"/>
    <p:sldId id="272" r:id="rId25"/>
    <p:sldId id="273" r:id="rId26"/>
    <p:sldId id="274" r:id="rId27"/>
    <p:sldId id="314" r:id="rId28"/>
    <p:sldId id="275" r:id="rId29"/>
    <p:sldId id="277" r:id="rId30"/>
    <p:sldId id="318" r:id="rId31"/>
    <p:sldId id="278" r:id="rId32"/>
    <p:sldId id="279" r:id="rId33"/>
    <p:sldId id="285" r:id="rId34"/>
    <p:sldId id="316" r:id="rId35"/>
    <p:sldId id="286" r:id="rId36"/>
    <p:sldId id="287" r:id="rId37"/>
    <p:sldId id="292" r:id="rId38"/>
    <p:sldId id="323" r:id="rId39"/>
    <p:sldId id="317" r:id="rId40"/>
    <p:sldId id="293" r:id="rId41"/>
    <p:sldId id="294" r:id="rId42"/>
    <p:sldId id="295" r:id="rId43"/>
    <p:sldId id="296" r:id="rId44"/>
    <p:sldId id="303" r:id="rId45"/>
    <p:sldId id="304" r:id="rId46"/>
    <p:sldId id="305" r:id="rId47"/>
    <p:sldId id="306" r:id="rId48"/>
    <p:sldId id="331" r:id="rId49"/>
    <p:sldId id="330" r:id="rId50"/>
    <p:sldId id="332" r:id="rId5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8" d="100"/>
          <a:sy n="128" d="100"/>
        </p:scale>
        <p:origin x="1134" y="33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6f133c54ab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f133c54ab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E3019ECB-928C-077C-AF13-9502859DF4CC}"/>
            </a:ext>
          </a:extLst>
        </p:cNvPr>
        <p:cNvGrpSpPr/>
        <p:nvPr/>
      </p:nvGrpSpPr>
      <p:grpSpPr>
        <a:xfrm>
          <a:off x="0" y="0"/>
          <a:ext cx="0" cy="0"/>
          <a:chOff x="0" y="0"/>
          <a:chExt cx="0" cy="0"/>
        </a:xfrm>
      </p:grpSpPr>
      <p:sp>
        <p:nvSpPr>
          <p:cNvPr id="69" name="Google Shape;69;g36f133c54ab_1_88:notes">
            <a:extLst>
              <a:ext uri="{FF2B5EF4-FFF2-40B4-BE49-F238E27FC236}">
                <a16:creationId xmlns:a16="http://schemas.microsoft.com/office/drawing/2014/main" id="{2C9C8C61-4177-5C4F-B0CE-34DE4DA841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6f133c54ab_1_88:notes">
            <a:extLst>
              <a:ext uri="{FF2B5EF4-FFF2-40B4-BE49-F238E27FC236}">
                <a16:creationId xmlns:a16="http://schemas.microsoft.com/office/drawing/2014/main" id="{B7DCCD06-D510-B17B-372C-C98D3651AD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6956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6f133c54ab_1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6f133c54ab_1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53d00df4f9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53d00df4f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6D243A77-DCE6-0BFD-5E77-EF8F12290ABC}"/>
            </a:ext>
          </a:extLst>
        </p:cNvPr>
        <p:cNvGrpSpPr/>
        <p:nvPr/>
      </p:nvGrpSpPr>
      <p:grpSpPr>
        <a:xfrm>
          <a:off x="0" y="0"/>
          <a:ext cx="0" cy="0"/>
          <a:chOff x="0" y="0"/>
          <a:chExt cx="0" cy="0"/>
        </a:xfrm>
      </p:grpSpPr>
      <p:sp>
        <p:nvSpPr>
          <p:cNvPr id="81" name="Google Shape;81;g35fd84edb4e_0_1:notes">
            <a:extLst>
              <a:ext uri="{FF2B5EF4-FFF2-40B4-BE49-F238E27FC236}">
                <a16:creationId xmlns:a16="http://schemas.microsoft.com/office/drawing/2014/main" id="{A3874C6D-3E60-DB60-BAE2-337AAB61671B}"/>
              </a:ext>
            </a:extLst>
          </p:cNvPr>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5fd84edb4e_0_1:notes">
            <a:extLst>
              <a:ext uri="{FF2B5EF4-FFF2-40B4-BE49-F238E27FC236}">
                <a16:creationId xmlns:a16="http://schemas.microsoft.com/office/drawing/2014/main" id="{235526CB-C9C9-18F8-6886-D3EF5081CE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48609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DA388AD6-65AB-8C53-D3BC-C06AB4BFF0FD}"/>
            </a:ext>
          </a:extLst>
        </p:cNvPr>
        <p:cNvGrpSpPr/>
        <p:nvPr/>
      </p:nvGrpSpPr>
      <p:grpSpPr>
        <a:xfrm>
          <a:off x="0" y="0"/>
          <a:ext cx="0" cy="0"/>
          <a:chOff x="0" y="0"/>
          <a:chExt cx="0" cy="0"/>
        </a:xfrm>
      </p:grpSpPr>
      <p:sp>
        <p:nvSpPr>
          <p:cNvPr id="81" name="Google Shape;81;g35fd84edb4e_0_1:notes">
            <a:extLst>
              <a:ext uri="{FF2B5EF4-FFF2-40B4-BE49-F238E27FC236}">
                <a16:creationId xmlns:a16="http://schemas.microsoft.com/office/drawing/2014/main" id="{08692DB9-83C1-5803-11FD-18D8A1120B78}"/>
              </a:ext>
            </a:extLst>
          </p:cNvPr>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5fd84edb4e_0_1:notes">
            <a:extLst>
              <a:ext uri="{FF2B5EF4-FFF2-40B4-BE49-F238E27FC236}">
                <a16:creationId xmlns:a16="http://schemas.microsoft.com/office/drawing/2014/main" id="{73D295E9-2BEE-C7AD-D31C-52B519989E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7035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00C914FF-FCD1-0B37-ED19-C91147B0F8E2}"/>
            </a:ext>
          </a:extLst>
        </p:cNvPr>
        <p:cNvGrpSpPr/>
        <p:nvPr/>
      </p:nvGrpSpPr>
      <p:grpSpPr>
        <a:xfrm>
          <a:off x="0" y="0"/>
          <a:ext cx="0" cy="0"/>
          <a:chOff x="0" y="0"/>
          <a:chExt cx="0" cy="0"/>
        </a:xfrm>
      </p:grpSpPr>
      <p:sp>
        <p:nvSpPr>
          <p:cNvPr id="75" name="Google Shape;75;g353d00df4f9_0_5:notes">
            <a:extLst>
              <a:ext uri="{FF2B5EF4-FFF2-40B4-BE49-F238E27FC236}">
                <a16:creationId xmlns:a16="http://schemas.microsoft.com/office/drawing/2014/main" id="{842CC0D8-24E2-A1C7-9BC8-086A323E4521}"/>
              </a:ext>
            </a:extLst>
          </p:cNvPr>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53d00df4f9_0_5:notes">
            <a:extLst>
              <a:ext uri="{FF2B5EF4-FFF2-40B4-BE49-F238E27FC236}">
                <a16:creationId xmlns:a16="http://schemas.microsoft.com/office/drawing/2014/main" id="{7E241C3C-8EF0-21B4-E5A7-81CEC1A5EF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2104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5fd84edb4e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5fd84edb4e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53d00df4f9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53d00df4f9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5fd84edb4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5fd84edb4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C0A14E3-95F9-6F38-FF6C-EAA77307C144}"/>
            </a:ext>
          </a:extLst>
        </p:cNvPr>
        <p:cNvGrpSpPr/>
        <p:nvPr/>
      </p:nvGrpSpPr>
      <p:grpSpPr>
        <a:xfrm>
          <a:off x="0" y="0"/>
          <a:ext cx="0" cy="0"/>
          <a:chOff x="0" y="0"/>
          <a:chExt cx="0" cy="0"/>
        </a:xfrm>
      </p:grpSpPr>
      <p:sp>
        <p:nvSpPr>
          <p:cNvPr id="81" name="Google Shape;81;g35fd84edb4e_0_1:notes">
            <a:extLst>
              <a:ext uri="{FF2B5EF4-FFF2-40B4-BE49-F238E27FC236}">
                <a16:creationId xmlns:a16="http://schemas.microsoft.com/office/drawing/2014/main" id="{6A09B678-D420-4BA3-6F29-98E5327146F6}"/>
              </a:ext>
            </a:extLst>
          </p:cNvPr>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5fd84edb4e_0_1:notes">
            <a:extLst>
              <a:ext uri="{FF2B5EF4-FFF2-40B4-BE49-F238E27FC236}">
                <a16:creationId xmlns:a16="http://schemas.microsoft.com/office/drawing/2014/main" id="{92336DF5-30E9-2F50-BE26-E2C6FCFF65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26828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5fd84edb4e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5fd84edb4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5fd84edb4e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5fd84edb4e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5fd84edb4e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fd84edb4e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5fd84edb4e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5fd84edb4e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5fd84edb4e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5fd84edb4e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181C0A2F-CE77-9CB9-FB95-F295B2FBE031}"/>
            </a:ext>
          </a:extLst>
        </p:cNvPr>
        <p:cNvGrpSpPr/>
        <p:nvPr/>
      </p:nvGrpSpPr>
      <p:grpSpPr>
        <a:xfrm>
          <a:off x="0" y="0"/>
          <a:ext cx="0" cy="0"/>
          <a:chOff x="0" y="0"/>
          <a:chExt cx="0" cy="0"/>
        </a:xfrm>
      </p:grpSpPr>
      <p:sp>
        <p:nvSpPr>
          <p:cNvPr id="75" name="Google Shape;75;g353d00df4f9_0_5:notes">
            <a:extLst>
              <a:ext uri="{FF2B5EF4-FFF2-40B4-BE49-F238E27FC236}">
                <a16:creationId xmlns:a16="http://schemas.microsoft.com/office/drawing/2014/main" id="{58DA72F7-F6F8-2A9F-8D61-2A01DC73C7EC}"/>
              </a:ext>
            </a:extLst>
          </p:cNvPr>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53d00df4f9_0_5:notes">
            <a:extLst>
              <a:ext uri="{FF2B5EF4-FFF2-40B4-BE49-F238E27FC236}">
                <a16:creationId xmlns:a16="http://schemas.microsoft.com/office/drawing/2014/main" id="{529DDA57-4AAF-10A0-490A-0E26A3001A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18173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53d00df4f9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53d00df4f9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5fd84edb4e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5fd84edb4e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fd84edb4e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fd84edb4e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509EAFD6-7553-10B9-569F-C6E496A80F34}"/>
            </a:ext>
          </a:extLst>
        </p:cNvPr>
        <p:cNvGrpSpPr/>
        <p:nvPr/>
      </p:nvGrpSpPr>
      <p:grpSpPr>
        <a:xfrm>
          <a:off x="0" y="0"/>
          <a:ext cx="0" cy="0"/>
          <a:chOff x="0" y="0"/>
          <a:chExt cx="0" cy="0"/>
        </a:xfrm>
      </p:grpSpPr>
      <p:sp>
        <p:nvSpPr>
          <p:cNvPr id="75" name="Google Shape;75;g353d00df4f9_0_5:notes">
            <a:extLst>
              <a:ext uri="{FF2B5EF4-FFF2-40B4-BE49-F238E27FC236}">
                <a16:creationId xmlns:a16="http://schemas.microsoft.com/office/drawing/2014/main" id="{E5549CFC-7A0F-9E4C-1376-6054650BE839}"/>
              </a:ext>
            </a:extLst>
          </p:cNvPr>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53d00df4f9_0_5:notes">
            <a:extLst>
              <a:ext uri="{FF2B5EF4-FFF2-40B4-BE49-F238E27FC236}">
                <a16:creationId xmlns:a16="http://schemas.microsoft.com/office/drawing/2014/main" id="{72514396-8A3E-519D-0D72-F11D78CBC5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43394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5f448dded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5f448dded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450764c671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450764c67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450764c67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450764c6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23D37E85-4C59-45C0-4F83-F8F033CF8C55}"/>
            </a:ext>
          </a:extLst>
        </p:cNvPr>
        <p:cNvGrpSpPr/>
        <p:nvPr/>
      </p:nvGrpSpPr>
      <p:grpSpPr>
        <a:xfrm>
          <a:off x="0" y="0"/>
          <a:ext cx="0" cy="0"/>
          <a:chOff x="0" y="0"/>
          <a:chExt cx="0" cy="0"/>
        </a:xfrm>
      </p:grpSpPr>
      <p:sp>
        <p:nvSpPr>
          <p:cNvPr id="166" name="Google Shape;166;g3450764c671_0_0:notes">
            <a:extLst>
              <a:ext uri="{FF2B5EF4-FFF2-40B4-BE49-F238E27FC236}">
                <a16:creationId xmlns:a16="http://schemas.microsoft.com/office/drawing/2014/main" id="{95402AF0-1DBE-26FC-9746-4982077C57A3}"/>
              </a:ext>
            </a:extLst>
          </p:cNvPr>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450764c671_0_0:notes">
            <a:extLst>
              <a:ext uri="{FF2B5EF4-FFF2-40B4-BE49-F238E27FC236}">
                <a16:creationId xmlns:a16="http://schemas.microsoft.com/office/drawing/2014/main" id="{0BC16808-EC00-6EB7-24E9-51A3D6A9B1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088814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600d459a30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600d459a30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6f133c54ab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6f133c54ab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38537900-169F-204C-C97A-65DE58F3DB64}"/>
            </a:ext>
          </a:extLst>
        </p:cNvPr>
        <p:cNvGrpSpPr/>
        <p:nvPr/>
      </p:nvGrpSpPr>
      <p:grpSpPr>
        <a:xfrm>
          <a:off x="0" y="0"/>
          <a:ext cx="0" cy="0"/>
          <a:chOff x="0" y="0"/>
          <a:chExt cx="0" cy="0"/>
        </a:xfrm>
      </p:grpSpPr>
      <p:sp>
        <p:nvSpPr>
          <p:cNvPr id="185" name="Google Shape;185;g36f133c54ab_1_0:notes">
            <a:extLst>
              <a:ext uri="{FF2B5EF4-FFF2-40B4-BE49-F238E27FC236}">
                <a16:creationId xmlns:a16="http://schemas.microsoft.com/office/drawing/2014/main" id="{199FB03D-863A-DA74-1FAC-DDD48DA0C9A6}"/>
              </a:ext>
            </a:extLst>
          </p:cNvPr>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6f133c54ab_1_0:notes">
            <a:extLst>
              <a:ext uri="{FF2B5EF4-FFF2-40B4-BE49-F238E27FC236}">
                <a16:creationId xmlns:a16="http://schemas.microsoft.com/office/drawing/2014/main" id="{200D45AF-DFE8-E78B-271B-BFCE7EA916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37132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6f133c54ab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6f133c54a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53d00df4f9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53d00df4f9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53d00df4f9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53d00df4f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502C5052-7AA5-E8CB-AE62-668C1903B653}"/>
            </a:ext>
          </a:extLst>
        </p:cNvPr>
        <p:cNvGrpSpPr/>
        <p:nvPr/>
      </p:nvGrpSpPr>
      <p:grpSpPr>
        <a:xfrm>
          <a:off x="0" y="0"/>
          <a:ext cx="0" cy="0"/>
          <a:chOff x="0" y="0"/>
          <a:chExt cx="0" cy="0"/>
        </a:xfrm>
      </p:grpSpPr>
      <p:sp>
        <p:nvSpPr>
          <p:cNvPr id="75" name="Google Shape;75;g353d00df4f9_0_5:notes">
            <a:extLst>
              <a:ext uri="{FF2B5EF4-FFF2-40B4-BE49-F238E27FC236}">
                <a16:creationId xmlns:a16="http://schemas.microsoft.com/office/drawing/2014/main" id="{5042C78E-4866-4EE1-C40A-39B4A7A4C5A9}"/>
              </a:ext>
            </a:extLst>
          </p:cNvPr>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53d00df4f9_0_5:notes">
            <a:extLst>
              <a:ext uri="{FF2B5EF4-FFF2-40B4-BE49-F238E27FC236}">
                <a16:creationId xmlns:a16="http://schemas.microsoft.com/office/drawing/2014/main" id="{CD51CE7C-2A0C-7868-6A1E-1BBEFB4443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62697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53d00df4f9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53d00df4f9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6f133c54ab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36f133c54ab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6f133c54ab_1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36f133c54ab_1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a:extLst>
            <a:ext uri="{FF2B5EF4-FFF2-40B4-BE49-F238E27FC236}">
              <a16:creationId xmlns:a16="http://schemas.microsoft.com/office/drawing/2014/main" id="{779A6E28-264C-AAD9-CBFA-86095B688AAA}"/>
            </a:ext>
          </a:extLst>
        </p:cNvPr>
        <p:cNvGrpSpPr/>
        <p:nvPr/>
      </p:nvGrpSpPr>
      <p:grpSpPr>
        <a:xfrm>
          <a:off x="0" y="0"/>
          <a:ext cx="0" cy="0"/>
          <a:chOff x="0" y="0"/>
          <a:chExt cx="0" cy="0"/>
        </a:xfrm>
      </p:grpSpPr>
      <p:sp>
        <p:nvSpPr>
          <p:cNvPr id="275" name="Google Shape;275;g36f133c54ab_1_40:notes">
            <a:extLst>
              <a:ext uri="{FF2B5EF4-FFF2-40B4-BE49-F238E27FC236}">
                <a16:creationId xmlns:a16="http://schemas.microsoft.com/office/drawing/2014/main" id="{3049BC85-EAA6-3B31-BD5A-31315AEA866A}"/>
              </a:ext>
            </a:extLst>
          </p:cNvPr>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36f133c54ab_1_40:notes">
            <a:extLst>
              <a:ext uri="{FF2B5EF4-FFF2-40B4-BE49-F238E27FC236}">
                <a16:creationId xmlns:a16="http://schemas.microsoft.com/office/drawing/2014/main" id="{5B14FFA0-7BF9-EFDD-5AF2-A46CC80D1D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37774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ECDB9878-E563-F241-F109-5B0C0EE11F62}"/>
            </a:ext>
          </a:extLst>
        </p:cNvPr>
        <p:cNvGrpSpPr/>
        <p:nvPr/>
      </p:nvGrpSpPr>
      <p:grpSpPr>
        <a:xfrm>
          <a:off x="0" y="0"/>
          <a:ext cx="0" cy="0"/>
          <a:chOff x="0" y="0"/>
          <a:chExt cx="0" cy="0"/>
        </a:xfrm>
      </p:grpSpPr>
      <p:sp>
        <p:nvSpPr>
          <p:cNvPr id="75" name="Google Shape;75;g353d00df4f9_0_5:notes">
            <a:extLst>
              <a:ext uri="{FF2B5EF4-FFF2-40B4-BE49-F238E27FC236}">
                <a16:creationId xmlns:a16="http://schemas.microsoft.com/office/drawing/2014/main" id="{2A8A03A3-7B20-B008-A762-334FECDCCFF1}"/>
              </a:ext>
            </a:extLst>
          </p:cNvPr>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53d00df4f9_0_5:notes">
            <a:extLst>
              <a:ext uri="{FF2B5EF4-FFF2-40B4-BE49-F238E27FC236}">
                <a16:creationId xmlns:a16="http://schemas.microsoft.com/office/drawing/2014/main" id="{C33FDFDB-3903-D6AA-41CE-614F5E7A5E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3464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53d00df4f9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53d00df4f9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6f133c54ab_1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36f133c54ab_1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36f133c54ab_1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36f133c54ab_1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6f133c54ab_1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36f133c54ab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893714cb0f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893714cb0f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893714cb0f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3893714cb0f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893714cb0f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893714cb0f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893714cb0f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3893714cb0f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a:extLst>
            <a:ext uri="{FF2B5EF4-FFF2-40B4-BE49-F238E27FC236}">
              <a16:creationId xmlns:a16="http://schemas.microsoft.com/office/drawing/2014/main" id="{EBD5006E-D73F-A9F5-C661-90E1F51FC4F1}"/>
            </a:ext>
          </a:extLst>
        </p:cNvPr>
        <p:cNvGrpSpPr/>
        <p:nvPr/>
      </p:nvGrpSpPr>
      <p:grpSpPr>
        <a:xfrm>
          <a:off x="0" y="0"/>
          <a:ext cx="0" cy="0"/>
          <a:chOff x="0" y="0"/>
          <a:chExt cx="0" cy="0"/>
        </a:xfrm>
      </p:grpSpPr>
      <p:sp>
        <p:nvSpPr>
          <p:cNvPr id="374" name="Google Shape;374;g36f133c54ab_1_83:notes">
            <a:extLst>
              <a:ext uri="{FF2B5EF4-FFF2-40B4-BE49-F238E27FC236}">
                <a16:creationId xmlns:a16="http://schemas.microsoft.com/office/drawing/2014/main" id="{8970184D-E977-1C9B-0B5F-9F6765A1AA2C}"/>
              </a:ext>
            </a:extLst>
          </p:cNvPr>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6f133c54ab_1_83:notes">
            <a:extLst>
              <a:ext uri="{FF2B5EF4-FFF2-40B4-BE49-F238E27FC236}">
                <a16:creationId xmlns:a16="http://schemas.microsoft.com/office/drawing/2014/main" id="{C81497AD-1EF0-8296-A3FF-61507EAC67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02035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a:extLst>
            <a:ext uri="{FF2B5EF4-FFF2-40B4-BE49-F238E27FC236}">
              <a16:creationId xmlns:a16="http://schemas.microsoft.com/office/drawing/2014/main" id="{5A70674C-33A3-4516-0AA6-9430AEBE08A1}"/>
            </a:ext>
          </a:extLst>
        </p:cNvPr>
        <p:cNvGrpSpPr/>
        <p:nvPr/>
      </p:nvGrpSpPr>
      <p:grpSpPr>
        <a:xfrm>
          <a:off x="0" y="0"/>
          <a:ext cx="0" cy="0"/>
          <a:chOff x="0" y="0"/>
          <a:chExt cx="0" cy="0"/>
        </a:xfrm>
      </p:grpSpPr>
      <p:sp>
        <p:nvSpPr>
          <p:cNvPr id="368" name="Google Shape;368;g353d00df4f9_0_15:notes">
            <a:extLst>
              <a:ext uri="{FF2B5EF4-FFF2-40B4-BE49-F238E27FC236}">
                <a16:creationId xmlns:a16="http://schemas.microsoft.com/office/drawing/2014/main" id="{27B48CD9-2850-3164-928E-F44A9A877CFD}"/>
              </a:ext>
            </a:extLst>
          </p:cNvPr>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53d00df4f9_0_15:notes">
            <a:extLst>
              <a:ext uri="{FF2B5EF4-FFF2-40B4-BE49-F238E27FC236}">
                <a16:creationId xmlns:a16="http://schemas.microsoft.com/office/drawing/2014/main" id="{5D1B5707-9C35-59F5-0AB8-093A9964B1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51449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FF59937D-D2F3-19A3-DE43-E2FDDF4E48CF}"/>
            </a:ext>
          </a:extLst>
        </p:cNvPr>
        <p:cNvGrpSpPr/>
        <p:nvPr/>
      </p:nvGrpSpPr>
      <p:grpSpPr>
        <a:xfrm>
          <a:off x="0" y="0"/>
          <a:ext cx="0" cy="0"/>
          <a:chOff x="0" y="0"/>
          <a:chExt cx="0" cy="0"/>
        </a:xfrm>
      </p:grpSpPr>
      <p:sp>
        <p:nvSpPr>
          <p:cNvPr id="69" name="Google Shape;69;g36f133c54ab_1_88:notes">
            <a:extLst>
              <a:ext uri="{FF2B5EF4-FFF2-40B4-BE49-F238E27FC236}">
                <a16:creationId xmlns:a16="http://schemas.microsoft.com/office/drawing/2014/main" id="{357064DD-D891-F609-E722-1BB98A0DB9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6f133c54ab_1_88:notes">
            <a:extLst>
              <a:ext uri="{FF2B5EF4-FFF2-40B4-BE49-F238E27FC236}">
                <a16:creationId xmlns:a16="http://schemas.microsoft.com/office/drawing/2014/main" id="{98670BD5-CBFC-F7A3-3E8E-E226360243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2476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98BA6-38AF-01DD-3AE3-37D71ADF36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079424-D8C8-5901-396C-ACA1DC1173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686446-064E-EB68-B506-FE74139FEF8F}"/>
              </a:ext>
            </a:extLst>
          </p:cNvPr>
          <p:cNvSpPr>
            <a:spLocks noGrp="1"/>
          </p:cNvSpPr>
          <p:nvPr>
            <p:ph type="dt" sz="half" idx="10"/>
          </p:nvPr>
        </p:nvSpPr>
        <p:spPr/>
        <p:txBody>
          <a:bodyPr/>
          <a:lstStyle/>
          <a:p>
            <a:fld id="{333432B8-3A9D-4F3F-96A6-8C3E62564B3F}" type="datetimeFigureOut">
              <a:rPr lang="en-US" smtClean="0"/>
              <a:t>10/26/2025</a:t>
            </a:fld>
            <a:endParaRPr lang="en-US"/>
          </a:p>
        </p:txBody>
      </p:sp>
      <p:sp>
        <p:nvSpPr>
          <p:cNvPr id="5" name="Footer Placeholder 4">
            <a:extLst>
              <a:ext uri="{FF2B5EF4-FFF2-40B4-BE49-F238E27FC236}">
                <a16:creationId xmlns:a16="http://schemas.microsoft.com/office/drawing/2014/main" id="{5FA4F273-C42A-85A0-61AD-67D93BB253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3D7FFA-DD57-FDFA-6123-F84DD8E1BFE1}"/>
              </a:ext>
            </a:extLst>
          </p:cNvPr>
          <p:cNvSpPr>
            <a:spLocks noGrp="1"/>
          </p:cNvSpPr>
          <p:nvPr>
            <p:ph type="sldNum" sz="quarter" idx="12"/>
          </p:nvPr>
        </p:nvSpPr>
        <p:spPr/>
        <p:txBody>
          <a:bodyPr/>
          <a:lstStyle/>
          <a:p>
            <a:fld id="{7F0B9B45-BD2F-46F4-B881-06BE57E3E4FE}" type="slidenum">
              <a:rPr lang="en-US" smtClean="0"/>
              <a:t>‹#›</a:t>
            </a:fld>
            <a:endParaRPr lang="en-US"/>
          </a:p>
        </p:txBody>
      </p:sp>
    </p:spTree>
    <p:extLst>
      <p:ext uri="{BB962C8B-B14F-4D97-AF65-F5344CB8AC3E}">
        <p14:creationId xmlns:p14="http://schemas.microsoft.com/office/powerpoint/2010/main" val="1740928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leemarkum.com/"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hyperlink" Target="https://github.com/lmarkum" TargetMode="External"/><Relationship Id="rId4" Type="http://schemas.openxmlformats.org/officeDocument/2006/relationships/hyperlink" Target="mailto:Email:lmarkum@live.com"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bit.ly/4kkVGbv"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bit.ly/3HBOrxj"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bit.ly/3HhGb5N"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erikdarling.com/thoughts-on-maxdop/"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https://bit.ly/4dPuL5l"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s://unsplash.com/@hermez777?utm_content=creditCopyText&amp;utm_medium=referral&amp;utm_source=unsplash" TargetMode="External"/><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9.jpg"/><Relationship Id="rId4" Type="http://schemas.openxmlformats.org/officeDocument/2006/relationships/hyperlink" Target="https://unsplash.com/photos/two-man-wearing-training-gloves-on-ring-_rNVw54xZZg?utm_content=creditCopyText&amp;utm_medium=referral&amp;utm_source=unsplash"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hyperlink" Target="https://bit.ly/3Mv9csa" TargetMode="External"/><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hyperlink" Target="https://bit.ly/3C0Zn1B" TargetMode="External"/><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hyperlink" Target="https://www.sqlskills.com/blogs/jonathan/logging-database-scoped-configuration-changes/" TargetMode="External"/><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hyperlink" Target="https://leemarkum.com/" TargetMode="External"/><Relationship Id="rId2" Type="http://schemas.openxmlformats.org/officeDocument/2006/relationships/notesSlide" Target="../notesSlides/notesSlide49.xml"/><Relationship Id="rId1" Type="http://schemas.openxmlformats.org/officeDocument/2006/relationships/slideLayout" Target="../slideLayouts/slideLayout3.xml"/><Relationship Id="rId5" Type="http://schemas.openxmlformats.org/officeDocument/2006/relationships/hyperlink" Target="https://github.com/lmarkum" TargetMode="External"/><Relationship Id="rId4" Type="http://schemas.openxmlformats.org/officeDocument/2006/relationships/hyperlink" Target="mailto:Email:lmarkum@liv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Buttons, Levers, and Dials</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dirty="0"/>
              <a:t>What to do with common SQL Server Settings!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EE72AA8B-0E40-0B53-822A-D27618FB469C}"/>
              </a:ext>
            </a:extLst>
          </p:cNvPr>
          <p:cNvCxnSpPr>
            <a:cxnSpLocks/>
          </p:cNvCxnSpPr>
          <p:nvPr/>
        </p:nvCxnSpPr>
        <p:spPr>
          <a:xfrm>
            <a:off x="1141344" y="3949088"/>
            <a:ext cx="2743200" cy="5907"/>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31F6B0C8-7757-BBDB-5575-8259D9A11CC3}"/>
              </a:ext>
            </a:extLst>
          </p:cNvPr>
          <p:cNvCxnSpPr>
            <a:cxnSpLocks/>
          </p:cNvCxnSpPr>
          <p:nvPr/>
        </p:nvCxnSpPr>
        <p:spPr>
          <a:xfrm>
            <a:off x="1141344" y="2716599"/>
            <a:ext cx="6861313" cy="4027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79B030E4-58AF-5CBC-E334-412CCA8CD26A}"/>
              </a:ext>
            </a:extLst>
          </p:cNvPr>
          <p:cNvCxnSpPr>
            <a:cxnSpLocks/>
          </p:cNvCxnSpPr>
          <p:nvPr/>
        </p:nvCxnSpPr>
        <p:spPr>
          <a:xfrm>
            <a:off x="1141344" y="1297766"/>
            <a:ext cx="6861313" cy="4027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F339148-491F-54FD-EDF1-A3FFC6FC5C0C}"/>
              </a:ext>
            </a:extLst>
          </p:cNvPr>
          <p:cNvSpPr>
            <a:spLocks noGrp="1"/>
          </p:cNvSpPr>
          <p:nvPr>
            <p:ph type="title"/>
          </p:nvPr>
        </p:nvSpPr>
        <p:spPr>
          <a:xfrm>
            <a:off x="884997" y="122800"/>
            <a:ext cx="7374006" cy="994172"/>
          </a:xfrm>
        </p:spPr>
        <p:txBody>
          <a:bodyPr>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3000" dirty="0">
                <a:latin typeface="Segoe UI Semibold" panose="020B0702040204020203" pitchFamily="34" charset="0"/>
                <a:cs typeface="Segoe UI Semibold" panose="020B0702040204020203" pitchFamily="34" charset="0"/>
              </a:rPr>
              <a:t>Thank You to Our Event Sponsors</a:t>
            </a:r>
            <a:br>
              <a:rPr lang="en-US" sz="2700" dirty="0">
                <a:latin typeface="Segoe UI Semibold" panose="020B0702040204020203" pitchFamily="34" charset="0"/>
                <a:cs typeface="Segoe UI Semibold" panose="020B0702040204020203" pitchFamily="34" charset="0"/>
              </a:rPr>
            </a:br>
            <a:r>
              <a:rPr lang="en-US" sz="1200" dirty="0">
                <a:latin typeface="Segoe UI" panose="020B0502040204020203" pitchFamily="34" charset="0"/>
                <a:cs typeface="Segoe UI" panose="020B0502040204020203" pitchFamily="34" charset="0"/>
              </a:rPr>
              <a:t>We gratefully acknowledge the generous support of our sponsors. </a:t>
            </a:r>
            <a:br>
              <a:rPr lang="en-US" sz="1200" dirty="0">
                <a:latin typeface="Segoe UI" panose="020B0502040204020203" pitchFamily="34" charset="0"/>
                <a:cs typeface="Segoe UI" panose="020B0502040204020203" pitchFamily="34" charset="0"/>
              </a:rPr>
            </a:br>
            <a:r>
              <a:rPr lang="en-US" sz="1200" dirty="0">
                <a:latin typeface="Segoe UI" panose="020B0502040204020203" pitchFamily="34" charset="0"/>
                <a:cs typeface="Segoe UI" panose="020B0502040204020203" pitchFamily="34" charset="0"/>
              </a:rPr>
              <a:t>Their partnership makes this event possible.</a:t>
            </a:r>
            <a:endParaRPr lang="en-US" sz="2700" dirty="0">
              <a:latin typeface="Segoe UI" panose="020B0502040204020203" pitchFamily="34" charset="0"/>
              <a:cs typeface="Segoe UI" panose="020B0502040204020203" pitchFamily="34" charset="0"/>
            </a:endParaRPr>
          </a:p>
        </p:txBody>
      </p:sp>
      <p:sp>
        <p:nvSpPr>
          <p:cNvPr id="11" name="TextBox 10">
            <a:extLst>
              <a:ext uri="{FF2B5EF4-FFF2-40B4-BE49-F238E27FC236}">
                <a16:creationId xmlns:a16="http://schemas.microsoft.com/office/drawing/2014/main" id="{C5EC49CC-70CF-07F2-B2D0-C5E0F7A8174A}"/>
              </a:ext>
            </a:extLst>
          </p:cNvPr>
          <p:cNvSpPr txBox="1"/>
          <p:nvPr/>
        </p:nvSpPr>
        <p:spPr>
          <a:xfrm>
            <a:off x="3777528" y="1154903"/>
            <a:ext cx="1588945" cy="323165"/>
          </a:xfrm>
          <a:prstGeom prst="rect">
            <a:avLst/>
          </a:prstGeom>
          <a:solidFill>
            <a:srgbClr val="FFFFFF"/>
          </a:solid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500" b="1" dirty="0">
                <a:latin typeface="Segoe UI Semibold" panose="020B0702040204020203" pitchFamily="34" charset="0"/>
                <a:cs typeface="Segoe UI Semibold" panose="020B0702040204020203" pitchFamily="34" charset="0"/>
              </a:rPr>
              <a:t>Global Sponsors</a:t>
            </a:r>
          </a:p>
        </p:txBody>
      </p:sp>
      <p:sp>
        <p:nvSpPr>
          <p:cNvPr id="13" name="TextBox 12">
            <a:extLst>
              <a:ext uri="{FF2B5EF4-FFF2-40B4-BE49-F238E27FC236}">
                <a16:creationId xmlns:a16="http://schemas.microsoft.com/office/drawing/2014/main" id="{79473286-B851-45C9-455B-9A20B622350E}"/>
              </a:ext>
            </a:extLst>
          </p:cNvPr>
          <p:cNvSpPr txBox="1"/>
          <p:nvPr/>
        </p:nvSpPr>
        <p:spPr>
          <a:xfrm>
            <a:off x="3886883" y="2565795"/>
            <a:ext cx="1370235" cy="553998"/>
          </a:xfrm>
          <a:prstGeom prst="rect">
            <a:avLst/>
          </a:prstGeom>
          <a:solidFill>
            <a:schemeClr val="bg1"/>
          </a:solid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500" b="1" dirty="0">
                <a:latin typeface="Segoe UI Semibold" panose="020B0702040204020203" pitchFamily="34" charset="0"/>
                <a:cs typeface="Segoe UI Semibold" panose="020B0702040204020203" pitchFamily="34" charset="0"/>
              </a:rPr>
              <a:t>Silver Sponsor</a:t>
            </a:r>
          </a:p>
        </p:txBody>
      </p:sp>
      <p:sp>
        <p:nvSpPr>
          <p:cNvPr id="14" name="TextBox 13">
            <a:extLst>
              <a:ext uri="{FF2B5EF4-FFF2-40B4-BE49-F238E27FC236}">
                <a16:creationId xmlns:a16="http://schemas.microsoft.com/office/drawing/2014/main" id="{908321CB-CAC6-E697-7398-923194565675}"/>
              </a:ext>
            </a:extLst>
          </p:cNvPr>
          <p:cNvSpPr txBox="1"/>
          <p:nvPr/>
        </p:nvSpPr>
        <p:spPr>
          <a:xfrm>
            <a:off x="1776208" y="3807815"/>
            <a:ext cx="1444071" cy="248209"/>
          </a:xfrm>
          <a:prstGeom prst="rect">
            <a:avLst/>
          </a:prstGeom>
          <a:solidFill>
            <a:srgbClr val="FFFFFF"/>
          </a:solid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013" b="1" dirty="0">
                <a:latin typeface="Segoe UI Semibold" panose="020B0702040204020203" pitchFamily="34" charset="0"/>
                <a:cs typeface="Segoe UI Semibold" panose="020B0702040204020203" pitchFamily="34" charset="0"/>
              </a:rPr>
              <a:t>Bronze Sponsors</a:t>
            </a:r>
          </a:p>
        </p:txBody>
      </p:sp>
      <p:sp>
        <p:nvSpPr>
          <p:cNvPr id="16" name="TextBox 15">
            <a:extLst>
              <a:ext uri="{FF2B5EF4-FFF2-40B4-BE49-F238E27FC236}">
                <a16:creationId xmlns:a16="http://schemas.microsoft.com/office/drawing/2014/main" id="{607E9DD4-407C-81DA-E2CD-FA675E4630F9}"/>
              </a:ext>
            </a:extLst>
          </p:cNvPr>
          <p:cNvSpPr txBox="1"/>
          <p:nvPr/>
        </p:nvSpPr>
        <p:spPr>
          <a:xfrm>
            <a:off x="1755914" y="4733487"/>
            <a:ext cx="5632174" cy="253916"/>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050" dirty="0">
                <a:latin typeface="Segoe UI" panose="020B0502040204020203" pitchFamily="34" charset="0"/>
                <a:cs typeface="Segoe UI" panose="020B0502040204020203" pitchFamily="34" charset="0"/>
              </a:rPr>
              <a:t>We appreciate every sponsor for helping us create a memorable event!</a:t>
            </a:r>
          </a:p>
        </p:txBody>
      </p:sp>
      <p:pic>
        <p:nvPicPr>
          <p:cNvPr id="17" name="Picture 16">
            <a:extLst>
              <a:ext uri="{FF2B5EF4-FFF2-40B4-BE49-F238E27FC236}">
                <a16:creationId xmlns:a16="http://schemas.microsoft.com/office/drawing/2014/main" id="{CB306A1F-32D5-550F-AF52-5296D9DB0823}"/>
              </a:ext>
            </a:extLst>
          </p:cNvPr>
          <p:cNvPicPr>
            <a:picLocks noChangeAspect="1"/>
          </p:cNvPicPr>
          <p:nvPr/>
        </p:nvPicPr>
        <p:blipFill>
          <a:blip r:embed="rId2"/>
          <a:srcRect l="4968" t="24852" r="49978" b="26503"/>
          <a:stretch>
            <a:fillRect/>
          </a:stretch>
        </p:blipFill>
        <p:spPr>
          <a:xfrm>
            <a:off x="1532488" y="1484048"/>
            <a:ext cx="3355700" cy="900194"/>
          </a:xfrm>
          <a:prstGeom prst="rect">
            <a:avLst/>
          </a:prstGeom>
        </p:spPr>
      </p:pic>
      <p:pic>
        <p:nvPicPr>
          <p:cNvPr id="18" name="Picture 17">
            <a:extLst>
              <a:ext uri="{FF2B5EF4-FFF2-40B4-BE49-F238E27FC236}">
                <a16:creationId xmlns:a16="http://schemas.microsoft.com/office/drawing/2014/main" id="{A9EA2E5A-3078-CFB6-AE2A-FD7E0A119A06}"/>
              </a:ext>
            </a:extLst>
          </p:cNvPr>
          <p:cNvPicPr>
            <a:picLocks noChangeAspect="1"/>
          </p:cNvPicPr>
          <p:nvPr/>
        </p:nvPicPr>
        <p:blipFill>
          <a:blip r:embed="rId3"/>
          <a:stretch>
            <a:fillRect/>
          </a:stretch>
        </p:blipFill>
        <p:spPr>
          <a:xfrm>
            <a:off x="2691677" y="2971777"/>
            <a:ext cx="3757140" cy="521735"/>
          </a:xfrm>
          <a:prstGeom prst="rect">
            <a:avLst/>
          </a:prstGeom>
        </p:spPr>
      </p:pic>
      <p:pic>
        <p:nvPicPr>
          <p:cNvPr id="19" name="Picture 18">
            <a:extLst>
              <a:ext uri="{FF2B5EF4-FFF2-40B4-BE49-F238E27FC236}">
                <a16:creationId xmlns:a16="http://schemas.microsoft.com/office/drawing/2014/main" id="{9D13A7C2-434F-7B11-45E8-04029A1C79C7}"/>
              </a:ext>
            </a:extLst>
          </p:cNvPr>
          <p:cNvPicPr>
            <a:picLocks noChangeAspect="1"/>
          </p:cNvPicPr>
          <p:nvPr/>
        </p:nvPicPr>
        <p:blipFill>
          <a:blip r:embed="rId4"/>
          <a:srcRect l="5065" t="15735" r="5622" b="18131"/>
          <a:stretch>
            <a:fillRect/>
          </a:stretch>
        </p:blipFill>
        <p:spPr>
          <a:xfrm>
            <a:off x="1141345" y="4035361"/>
            <a:ext cx="1793969" cy="530900"/>
          </a:xfrm>
          <a:prstGeom prst="rect">
            <a:avLst/>
          </a:prstGeom>
        </p:spPr>
      </p:pic>
      <p:pic>
        <p:nvPicPr>
          <p:cNvPr id="20" name="Picture 19">
            <a:extLst>
              <a:ext uri="{FF2B5EF4-FFF2-40B4-BE49-F238E27FC236}">
                <a16:creationId xmlns:a16="http://schemas.microsoft.com/office/drawing/2014/main" id="{FFF252B3-7482-CE22-23E5-34B8E1181662}"/>
              </a:ext>
            </a:extLst>
          </p:cNvPr>
          <p:cNvPicPr>
            <a:picLocks noChangeAspect="1"/>
          </p:cNvPicPr>
          <p:nvPr/>
        </p:nvPicPr>
        <p:blipFill>
          <a:blip r:embed="rId5"/>
          <a:stretch>
            <a:fillRect/>
          </a:stretch>
        </p:blipFill>
        <p:spPr>
          <a:xfrm>
            <a:off x="3147717" y="4154272"/>
            <a:ext cx="629812" cy="293077"/>
          </a:xfrm>
          <a:prstGeom prst="rect">
            <a:avLst/>
          </a:prstGeom>
        </p:spPr>
      </p:pic>
      <p:pic>
        <p:nvPicPr>
          <p:cNvPr id="21" name="Picture 20">
            <a:extLst>
              <a:ext uri="{FF2B5EF4-FFF2-40B4-BE49-F238E27FC236}">
                <a16:creationId xmlns:a16="http://schemas.microsoft.com/office/drawing/2014/main" id="{22FAC418-4079-4507-E536-75C8E8473302}"/>
              </a:ext>
            </a:extLst>
          </p:cNvPr>
          <p:cNvPicPr>
            <a:picLocks noChangeAspect="1"/>
          </p:cNvPicPr>
          <p:nvPr/>
        </p:nvPicPr>
        <p:blipFill>
          <a:blip r:embed="rId6"/>
          <a:stretch>
            <a:fillRect/>
          </a:stretch>
        </p:blipFill>
        <p:spPr>
          <a:xfrm>
            <a:off x="5996285" y="4141937"/>
            <a:ext cx="1191800" cy="216014"/>
          </a:xfrm>
          <a:prstGeom prst="rect">
            <a:avLst/>
          </a:prstGeom>
        </p:spPr>
      </p:pic>
      <p:cxnSp>
        <p:nvCxnSpPr>
          <p:cNvPr id="30" name="Straight Connector 29">
            <a:extLst>
              <a:ext uri="{FF2B5EF4-FFF2-40B4-BE49-F238E27FC236}">
                <a16:creationId xmlns:a16="http://schemas.microsoft.com/office/drawing/2014/main" id="{AD40B7BF-D5BF-DEE2-5FEB-1FEC306A1A72}"/>
              </a:ext>
            </a:extLst>
          </p:cNvPr>
          <p:cNvCxnSpPr>
            <a:cxnSpLocks/>
          </p:cNvCxnSpPr>
          <p:nvPr/>
        </p:nvCxnSpPr>
        <p:spPr>
          <a:xfrm>
            <a:off x="5182014" y="3949088"/>
            <a:ext cx="2743200" cy="5907"/>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265083EC-784E-1647-1164-7AF91EB325D5}"/>
              </a:ext>
            </a:extLst>
          </p:cNvPr>
          <p:cNvSpPr txBox="1"/>
          <p:nvPr/>
        </p:nvSpPr>
        <p:spPr>
          <a:xfrm>
            <a:off x="5975071" y="3816496"/>
            <a:ext cx="1282562" cy="248209"/>
          </a:xfrm>
          <a:prstGeom prst="rect">
            <a:avLst/>
          </a:prstGeom>
          <a:solidFill>
            <a:srgbClr val="FFFFFF"/>
          </a:solid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013" b="1" dirty="0">
                <a:latin typeface="Segoe UI Semibold" panose="020B0702040204020203" pitchFamily="34" charset="0"/>
                <a:cs typeface="Segoe UI Semibold" panose="020B0702040204020203" pitchFamily="34" charset="0"/>
              </a:rPr>
              <a:t>Other Sponsor</a:t>
            </a:r>
          </a:p>
        </p:txBody>
      </p:sp>
      <p:pic>
        <p:nvPicPr>
          <p:cNvPr id="3" name="Picture 2">
            <a:extLst>
              <a:ext uri="{FF2B5EF4-FFF2-40B4-BE49-F238E27FC236}">
                <a16:creationId xmlns:a16="http://schemas.microsoft.com/office/drawing/2014/main" id="{5804001C-0A69-24A1-4119-D164C434256E}"/>
              </a:ext>
            </a:extLst>
          </p:cNvPr>
          <p:cNvPicPr>
            <a:picLocks noChangeAspect="1"/>
          </p:cNvPicPr>
          <p:nvPr/>
        </p:nvPicPr>
        <p:blipFill>
          <a:blip r:embed="rId2"/>
          <a:srcRect l="61717" t="18014" r="4139" b="13871"/>
          <a:stretch>
            <a:fillRect/>
          </a:stretch>
        </p:blipFill>
        <p:spPr>
          <a:xfrm>
            <a:off x="5332222" y="1444732"/>
            <a:ext cx="2212901" cy="1096842"/>
          </a:xfrm>
          <a:prstGeom prst="rect">
            <a:avLst/>
          </a:prstGeom>
        </p:spPr>
      </p:pic>
    </p:spTree>
    <p:extLst>
      <p:ext uri="{BB962C8B-B14F-4D97-AF65-F5344CB8AC3E}">
        <p14:creationId xmlns:p14="http://schemas.microsoft.com/office/powerpoint/2010/main" val="317887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About Me</a:t>
            </a:r>
            <a:endParaRPr/>
          </a:p>
        </p:txBody>
      </p:sp>
      <p:sp>
        <p:nvSpPr>
          <p:cNvPr id="67" name="Google Shape;67;p15"/>
          <p:cNvSpPr txBox="1">
            <a:spLocks noGrp="1"/>
          </p:cNvSpPr>
          <p:nvPr>
            <p:ph type="body" idx="1"/>
          </p:nvPr>
        </p:nvSpPr>
        <p:spPr>
          <a:xfrm>
            <a:off x="311700" y="929700"/>
            <a:ext cx="8520600" cy="4002900"/>
          </a:xfrm>
          <a:prstGeom prst="rect">
            <a:avLst/>
          </a:prstGeom>
        </p:spPr>
        <p:txBody>
          <a:bodyPr spcFirstLastPara="1" wrap="square" lIns="91425" tIns="91425" rIns="91425" bIns="91425" anchor="t" anchorCtr="0">
            <a:normAutofit fontScale="25000" lnSpcReduction="20000"/>
          </a:bodyPr>
          <a:lstStyle/>
          <a:p>
            <a:pPr marL="0" lvl="0" indent="0" algn="l" rtl="0">
              <a:lnSpc>
                <a:spcPct val="200000"/>
              </a:lnSpc>
              <a:spcBef>
                <a:spcPts val="0"/>
              </a:spcBef>
              <a:spcAft>
                <a:spcPts val="0"/>
              </a:spcAft>
              <a:buNone/>
            </a:pPr>
            <a:endParaRPr/>
          </a:p>
          <a:p>
            <a:pPr marL="457200" lvl="0" indent="0" algn="l" rtl="0">
              <a:lnSpc>
                <a:spcPct val="200000"/>
              </a:lnSpc>
              <a:spcBef>
                <a:spcPts val="1200"/>
              </a:spcBef>
              <a:spcAft>
                <a:spcPts val="0"/>
              </a:spcAft>
              <a:buNone/>
            </a:pPr>
            <a:r>
              <a:rPr lang="en" sz="7000" dirty="0"/>
              <a:t>Entered I.T. in Feb 2008</a:t>
            </a:r>
            <a:endParaRPr sz="7000"/>
          </a:p>
          <a:p>
            <a:pPr marL="457200" lvl="0" indent="0" algn="l" rtl="0">
              <a:lnSpc>
                <a:spcPct val="200000"/>
              </a:lnSpc>
              <a:spcBef>
                <a:spcPts val="1200"/>
              </a:spcBef>
              <a:spcAft>
                <a:spcPts val="0"/>
              </a:spcAft>
              <a:buNone/>
            </a:pPr>
            <a:r>
              <a:rPr lang="en" sz="7000" dirty="0"/>
              <a:t>MCTS SQL Server 2008 Implementation and Maintenance in May 2013</a:t>
            </a:r>
            <a:endParaRPr sz="7000"/>
          </a:p>
          <a:p>
            <a:pPr marL="457200" lvl="0" indent="0" algn="l" rtl="0">
              <a:lnSpc>
                <a:spcPct val="200000"/>
              </a:lnSpc>
              <a:spcBef>
                <a:spcPts val="1200"/>
              </a:spcBef>
              <a:spcAft>
                <a:spcPts val="0"/>
              </a:spcAft>
              <a:buNone/>
            </a:pPr>
            <a:r>
              <a:rPr lang="en" sz="7000" dirty="0"/>
              <a:t>Azure Fundamentals and Azure Database Fundamentals Spring 2021</a:t>
            </a:r>
            <a:endParaRPr sz="7000"/>
          </a:p>
          <a:p>
            <a:pPr marL="457200" lvl="0" indent="0" algn="l" rtl="0">
              <a:lnSpc>
                <a:spcPct val="200000"/>
              </a:lnSpc>
              <a:spcBef>
                <a:spcPts val="1200"/>
              </a:spcBef>
              <a:spcAft>
                <a:spcPts val="0"/>
              </a:spcAft>
              <a:buNone/>
            </a:pPr>
            <a:r>
              <a:rPr lang="en" sz="7000" dirty="0"/>
              <a:t>DBA since 2014</a:t>
            </a:r>
            <a:endParaRPr sz="7000"/>
          </a:p>
          <a:p>
            <a:pPr indent="0">
              <a:lnSpc>
                <a:spcPct val="200000"/>
              </a:lnSpc>
              <a:spcBef>
                <a:spcPts val="1200"/>
              </a:spcBef>
              <a:buNone/>
            </a:pPr>
            <a:r>
              <a:rPr lang="en" sz="7000" dirty="0"/>
              <a:t>Currently a Sr. DBA Consultant working for The SERO Group</a:t>
            </a:r>
          </a:p>
          <a:p>
            <a:pPr marL="0" lvl="0" indent="0" algn="l" rtl="0">
              <a:lnSpc>
                <a:spcPct val="200000"/>
              </a:lnSpc>
              <a:spcBef>
                <a:spcPts val="1200"/>
              </a:spcBef>
              <a:spcAft>
                <a:spcPts val="12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5B1A39DA-B613-DC2F-DAE2-A39B1A0AADE7}"/>
            </a:ext>
          </a:extLst>
        </p:cNvPr>
        <p:cNvGrpSpPr/>
        <p:nvPr/>
      </p:nvGrpSpPr>
      <p:grpSpPr>
        <a:xfrm>
          <a:off x="0" y="0"/>
          <a:ext cx="0" cy="0"/>
          <a:chOff x="0" y="0"/>
          <a:chExt cx="0" cy="0"/>
        </a:xfrm>
      </p:grpSpPr>
      <p:sp>
        <p:nvSpPr>
          <p:cNvPr id="72" name="Google Shape;72;p16">
            <a:extLst>
              <a:ext uri="{FF2B5EF4-FFF2-40B4-BE49-F238E27FC236}">
                <a16:creationId xmlns:a16="http://schemas.microsoft.com/office/drawing/2014/main" id="{CA63D814-9553-7CD3-3548-E59A96A37F80}"/>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algn="ctr"/>
            <a:r>
              <a:rPr lang="en" dirty="0"/>
              <a:t>Contact Info/Slides</a:t>
            </a:r>
          </a:p>
        </p:txBody>
      </p:sp>
      <p:sp>
        <p:nvSpPr>
          <p:cNvPr id="73" name="Google Shape;73;p16">
            <a:extLst>
              <a:ext uri="{FF2B5EF4-FFF2-40B4-BE49-F238E27FC236}">
                <a16:creationId xmlns:a16="http://schemas.microsoft.com/office/drawing/2014/main" id="{0E3144B1-082E-0797-177B-99C0CFA5DCF7}"/>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indent="0">
              <a:lnSpc>
                <a:spcPct val="200000"/>
              </a:lnSpc>
              <a:spcBef>
                <a:spcPts val="1200"/>
              </a:spcBef>
              <a:buNone/>
            </a:pPr>
            <a:r>
              <a:rPr lang="en" dirty="0"/>
              <a:t>Blog at </a:t>
            </a:r>
            <a:r>
              <a:rPr lang="en" dirty="0">
                <a:solidFill>
                  <a:srgbClr val="0097A7"/>
                </a:solidFill>
                <a:hlinkClick r:id="rId3">
                  <a:extLst>
                    <a:ext uri="{A12FA001-AC4F-418D-AE19-62706E023703}">
                      <ahyp:hlinkClr xmlns:ahyp="http://schemas.microsoft.com/office/drawing/2018/hyperlinkcolor" val="tx"/>
                    </a:ext>
                  </a:extLst>
                </a:hlinkClick>
              </a:rPr>
              <a:t>https://leemarkum.com</a:t>
            </a:r>
            <a:r>
              <a:rPr lang="en" dirty="0"/>
              <a:t> </a:t>
            </a:r>
          </a:p>
          <a:p>
            <a:pPr indent="0">
              <a:lnSpc>
                <a:spcPct val="200000"/>
              </a:lnSpc>
              <a:spcBef>
                <a:spcPts val="1200"/>
              </a:spcBef>
              <a:buNone/>
            </a:pPr>
            <a:r>
              <a:rPr lang="en" dirty="0">
                <a:hlinkClick r:id="rId4">
                  <a:extLst>
                    <a:ext uri="{A12FA001-AC4F-418D-AE19-62706E023703}">
                      <ahyp:hlinkClr xmlns:ahyp="http://schemas.microsoft.com/office/drawing/2018/hyperlinkcolor" val="tx"/>
                    </a:ext>
                  </a:extLst>
                </a:hlinkClick>
              </a:rPr>
              <a:t>Email:</a:t>
            </a:r>
            <a:r>
              <a:rPr lang="en" u="sng" dirty="0">
                <a:solidFill>
                  <a:schemeClr val="hlink"/>
                </a:solidFill>
                <a:hlinkClick r:id="rId4">
                  <a:extLst>
                    <a:ext uri="{A12FA001-AC4F-418D-AE19-62706E023703}">
                      <ahyp:hlinkClr xmlns:ahyp="http://schemas.microsoft.com/office/drawing/2018/hyperlinkcolor" val="tx"/>
                    </a:ext>
                  </a:extLst>
                </a:hlinkClick>
              </a:rPr>
              <a:t>lmarkum@live.com</a:t>
            </a:r>
            <a:endParaRPr lang="en" u="sng" dirty="0">
              <a:solidFill>
                <a:schemeClr val="hlink"/>
              </a:solidFill>
            </a:endParaRPr>
          </a:p>
          <a:p>
            <a:pPr indent="0">
              <a:lnSpc>
                <a:spcPct val="200000"/>
              </a:lnSpc>
              <a:spcBef>
                <a:spcPts val="1200"/>
              </a:spcBef>
              <a:buNone/>
            </a:pPr>
            <a:r>
              <a:rPr lang="en" dirty="0">
                <a:solidFill>
                  <a:srgbClr val="595959"/>
                </a:solidFill>
                <a:hlinkClick r:id="rId5"/>
              </a:rPr>
              <a:t>https://github.com/lmarkum</a:t>
            </a:r>
            <a:r>
              <a:rPr lang="en" dirty="0">
                <a:solidFill>
                  <a:srgbClr val="595959"/>
                </a:solidFill>
              </a:rPr>
              <a:t> </a:t>
            </a:r>
            <a:endParaRPr lang="en" dirty="0"/>
          </a:p>
          <a:p>
            <a:pPr marL="0" indent="0">
              <a:lnSpc>
                <a:spcPct val="200000"/>
              </a:lnSpc>
              <a:spcBef>
                <a:spcPts val="1200"/>
              </a:spcBef>
              <a:spcAft>
                <a:spcPts val="1200"/>
              </a:spcAft>
              <a:buNone/>
            </a:pPr>
            <a:endParaRPr dirty="0"/>
          </a:p>
        </p:txBody>
      </p:sp>
    </p:spTree>
    <p:extLst>
      <p:ext uri="{BB962C8B-B14F-4D97-AF65-F5344CB8AC3E}">
        <p14:creationId xmlns:p14="http://schemas.microsoft.com/office/powerpoint/2010/main" val="2802053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Agenda</a:t>
            </a:r>
            <a:endParaRPr/>
          </a:p>
        </p:txBody>
      </p:sp>
      <p:sp>
        <p:nvSpPr>
          <p:cNvPr id="73" name="Google Shape;7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lnSpc>
                <a:spcPct val="200000"/>
              </a:lnSpc>
              <a:spcBef>
                <a:spcPts val="0"/>
              </a:spcBef>
              <a:spcAft>
                <a:spcPts val="0"/>
              </a:spcAft>
              <a:buNone/>
            </a:pPr>
            <a:endParaRPr/>
          </a:p>
          <a:p>
            <a:pPr marL="457200" lvl="0" indent="-342900" algn="l" rtl="0">
              <a:lnSpc>
                <a:spcPct val="200000"/>
              </a:lnSpc>
              <a:spcBef>
                <a:spcPts val="1200"/>
              </a:spcBef>
              <a:spcAft>
                <a:spcPts val="0"/>
              </a:spcAft>
              <a:buSzPts val="1800"/>
              <a:buChar char="●"/>
            </a:pPr>
            <a:r>
              <a:rPr lang="en"/>
              <a:t>Server/Instance Level Settings</a:t>
            </a:r>
            <a:endParaRPr/>
          </a:p>
          <a:p>
            <a:pPr marL="0" lvl="0" indent="0" algn="l" rtl="0">
              <a:lnSpc>
                <a:spcPct val="200000"/>
              </a:lnSpc>
              <a:spcBef>
                <a:spcPts val="1200"/>
              </a:spcBef>
              <a:spcAft>
                <a:spcPts val="0"/>
              </a:spcAft>
              <a:buNone/>
            </a:pPr>
            <a:endParaRPr/>
          </a:p>
          <a:p>
            <a:pPr marL="457200" lvl="0" indent="-342900" algn="l" rtl="0">
              <a:lnSpc>
                <a:spcPct val="200000"/>
              </a:lnSpc>
              <a:spcBef>
                <a:spcPts val="1200"/>
              </a:spcBef>
              <a:spcAft>
                <a:spcPts val="0"/>
              </a:spcAft>
              <a:buSzPts val="1800"/>
              <a:buChar char="●"/>
            </a:pPr>
            <a:r>
              <a:rPr lang="en"/>
              <a:t>Database Level Settings</a:t>
            </a:r>
            <a:endParaRPr/>
          </a:p>
          <a:p>
            <a:pPr marL="0" lvl="0" indent="0" algn="l" rtl="0">
              <a:lnSpc>
                <a:spcPct val="200000"/>
              </a:lnSpc>
              <a:spcBef>
                <a:spcPts val="1200"/>
              </a:spcBef>
              <a:spcAft>
                <a:spcPts val="120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algn="ctr"/>
            <a:r>
              <a:rPr lang="en" dirty="0"/>
              <a:t>Server Level Settings</a:t>
            </a:r>
            <a:endParaRPr dirty="0"/>
          </a:p>
        </p:txBody>
      </p:sp>
      <p:sp>
        <p:nvSpPr>
          <p:cNvPr id="79" name="Google Shape;79;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ctr" rtl="0">
              <a:spcBef>
                <a:spcPts val="1200"/>
              </a:spcBef>
              <a:spcAft>
                <a:spcPts val="1200"/>
              </a:spcAft>
              <a:buNone/>
            </a:pPr>
            <a:r>
              <a:rPr lang="en" dirty="0"/>
              <a:t>MAXDOP</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834A88DE-4685-3244-9079-D953E47B8D98}"/>
            </a:ext>
          </a:extLst>
        </p:cNvPr>
        <p:cNvGrpSpPr/>
        <p:nvPr/>
      </p:nvGrpSpPr>
      <p:grpSpPr>
        <a:xfrm>
          <a:off x="0" y="0"/>
          <a:ext cx="0" cy="0"/>
          <a:chOff x="0" y="0"/>
          <a:chExt cx="0" cy="0"/>
        </a:xfrm>
      </p:grpSpPr>
      <p:sp>
        <p:nvSpPr>
          <p:cNvPr id="84" name="Google Shape;84;p18">
            <a:extLst>
              <a:ext uri="{FF2B5EF4-FFF2-40B4-BE49-F238E27FC236}">
                <a16:creationId xmlns:a16="http://schemas.microsoft.com/office/drawing/2014/main" id="{633744CE-F6E1-7152-DD31-A159787A9F63}"/>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85" name="Google Shape;85;p18">
            <a:extLst>
              <a:ext uri="{FF2B5EF4-FFF2-40B4-BE49-F238E27FC236}">
                <a16:creationId xmlns:a16="http://schemas.microsoft.com/office/drawing/2014/main" id="{D1770697-2C13-27C5-B86B-B6E77E681F49}"/>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indent="0">
              <a:lnSpc>
                <a:spcPct val="95000"/>
              </a:lnSpc>
              <a:buSzPts val="935"/>
              <a:buNone/>
            </a:pPr>
            <a:r>
              <a:rPr lang="en" dirty="0"/>
              <a:t>You're going to make a single cake together!</a:t>
            </a:r>
          </a:p>
          <a:p>
            <a:pPr marL="0" indent="0">
              <a:lnSpc>
                <a:spcPct val="95000"/>
              </a:lnSpc>
              <a:buSzPts val="935"/>
              <a:buNone/>
            </a:pPr>
            <a:endParaRPr lang="en" dirty="0"/>
          </a:p>
          <a:p>
            <a:pPr marL="0" indent="0">
              <a:lnSpc>
                <a:spcPct val="95000"/>
              </a:lnSpc>
              <a:buSzPts val="935"/>
              <a:buNone/>
            </a:pPr>
            <a:r>
              <a:rPr lang="en" dirty="0"/>
              <a:t>Eggs - STL     Butter - KC</a:t>
            </a:r>
          </a:p>
          <a:p>
            <a:pPr marL="0" indent="0">
              <a:lnSpc>
                <a:spcPct val="95000"/>
              </a:lnSpc>
              <a:buSzPts val="935"/>
              <a:buNone/>
            </a:pPr>
            <a:r>
              <a:rPr lang="en" dirty="0"/>
              <a:t>Flour - STL     Baking Powder – KC</a:t>
            </a:r>
          </a:p>
          <a:p>
            <a:pPr marL="0" indent="0">
              <a:lnSpc>
                <a:spcPct val="95000"/>
              </a:lnSpc>
              <a:buSzPts val="935"/>
              <a:buNone/>
            </a:pPr>
            <a:r>
              <a:rPr lang="en" dirty="0"/>
              <a:t>Milk - STL       Vanilla – STL</a:t>
            </a:r>
          </a:p>
          <a:p>
            <a:pPr marL="0" indent="0">
              <a:lnSpc>
                <a:spcPct val="95000"/>
              </a:lnSpc>
              <a:buSzPts val="935"/>
              <a:buNone/>
            </a:pPr>
            <a:r>
              <a:rPr lang="en" dirty="0"/>
              <a:t>Sugar - STL      Salt - STL</a:t>
            </a:r>
          </a:p>
          <a:p>
            <a:pPr marL="0" lvl="0" indent="0" algn="l" rtl="0">
              <a:lnSpc>
                <a:spcPct val="95000"/>
              </a:lnSpc>
              <a:spcBef>
                <a:spcPts val="1200"/>
              </a:spcBef>
              <a:buSzPts val="935"/>
              <a:buNone/>
            </a:pPr>
            <a:endParaRPr sz="1829"/>
          </a:p>
          <a:p>
            <a:pPr marL="0" indent="0">
              <a:lnSpc>
                <a:spcPct val="95000"/>
              </a:lnSpc>
              <a:spcBef>
                <a:spcPts val="1200"/>
              </a:spcBef>
              <a:buSzPts val="935"/>
              <a:buNone/>
            </a:pPr>
            <a:endParaRPr lang="en-US" dirty="0"/>
          </a:p>
          <a:p>
            <a:pPr marL="0" indent="0">
              <a:lnSpc>
                <a:spcPct val="95000"/>
              </a:lnSpc>
              <a:spcBef>
                <a:spcPts val="1200"/>
              </a:spcBef>
              <a:buSzPts val="935"/>
              <a:buNone/>
            </a:pPr>
            <a:endParaRPr lang="en-US" dirty="0"/>
          </a:p>
          <a:p>
            <a:pPr marL="0" indent="0">
              <a:lnSpc>
                <a:spcPct val="95000"/>
              </a:lnSpc>
              <a:spcBef>
                <a:spcPts val="1200"/>
              </a:spcBef>
              <a:spcAft>
                <a:spcPts val="1200"/>
              </a:spcAft>
              <a:buSzPts val="935"/>
              <a:buNone/>
            </a:pPr>
            <a:endParaRPr lang="en-US" sz="1829"/>
          </a:p>
        </p:txBody>
      </p:sp>
    </p:spTree>
    <p:extLst>
      <p:ext uri="{BB962C8B-B14F-4D97-AF65-F5344CB8AC3E}">
        <p14:creationId xmlns:p14="http://schemas.microsoft.com/office/powerpoint/2010/main" val="1467410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113840E8-BD81-BBBE-9B95-12EFDD879D35}"/>
            </a:ext>
          </a:extLst>
        </p:cNvPr>
        <p:cNvGrpSpPr/>
        <p:nvPr/>
      </p:nvGrpSpPr>
      <p:grpSpPr>
        <a:xfrm>
          <a:off x="0" y="0"/>
          <a:ext cx="0" cy="0"/>
          <a:chOff x="0" y="0"/>
          <a:chExt cx="0" cy="0"/>
        </a:xfrm>
      </p:grpSpPr>
      <p:sp>
        <p:nvSpPr>
          <p:cNvPr id="84" name="Google Shape;84;p18">
            <a:extLst>
              <a:ext uri="{FF2B5EF4-FFF2-40B4-BE49-F238E27FC236}">
                <a16:creationId xmlns:a16="http://schemas.microsoft.com/office/drawing/2014/main" id="{72FA32A5-2FA7-F2DF-971A-8F3160F4472A}"/>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85" name="Google Shape;85;p18">
            <a:extLst>
              <a:ext uri="{FF2B5EF4-FFF2-40B4-BE49-F238E27FC236}">
                <a16:creationId xmlns:a16="http://schemas.microsoft.com/office/drawing/2014/main" id="{BE1F136C-F259-A173-71F4-DDA97ECBE5C2}"/>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indent="0">
              <a:lnSpc>
                <a:spcPct val="95000"/>
              </a:lnSpc>
              <a:buSzPts val="935"/>
              <a:buNone/>
            </a:pPr>
            <a:r>
              <a:rPr lang="en" dirty="0"/>
              <a:t>You're going to make a single cake together!</a:t>
            </a:r>
          </a:p>
          <a:p>
            <a:pPr marL="0" indent="0">
              <a:lnSpc>
                <a:spcPct val="95000"/>
              </a:lnSpc>
              <a:buSzPts val="935"/>
              <a:buNone/>
            </a:pPr>
            <a:endParaRPr lang="en" dirty="0"/>
          </a:p>
          <a:p>
            <a:pPr marL="0" indent="0">
              <a:lnSpc>
                <a:spcPct val="95000"/>
              </a:lnSpc>
              <a:buSzPts val="935"/>
              <a:buNone/>
            </a:pPr>
            <a:endParaRPr lang="en" dirty="0"/>
          </a:p>
          <a:p>
            <a:pPr marL="0" indent="0">
              <a:lnSpc>
                <a:spcPct val="95000"/>
              </a:lnSpc>
              <a:buSzPts val="935"/>
              <a:buNone/>
            </a:pPr>
            <a:endParaRPr lang="en" dirty="0"/>
          </a:p>
          <a:p>
            <a:pPr marL="0" indent="0">
              <a:lnSpc>
                <a:spcPct val="95000"/>
              </a:lnSpc>
              <a:buSzPts val="935"/>
              <a:buNone/>
            </a:pPr>
            <a:r>
              <a:rPr lang="en" dirty="0"/>
              <a:t>Socket 1 – Local memory STL  Socket 2 – Local Memory KC</a:t>
            </a:r>
          </a:p>
          <a:p>
            <a:pPr marL="0" indent="0">
              <a:lnSpc>
                <a:spcPct val="95000"/>
              </a:lnSpc>
              <a:buSzPts val="935"/>
              <a:buNone/>
            </a:pPr>
            <a:r>
              <a:rPr lang="en" dirty="0"/>
              <a:t>Eggs - STL           Butter - KC</a:t>
            </a:r>
          </a:p>
          <a:p>
            <a:pPr marL="0" indent="0">
              <a:lnSpc>
                <a:spcPct val="95000"/>
              </a:lnSpc>
              <a:buSzPts val="935"/>
              <a:buNone/>
            </a:pPr>
            <a:r>
              <a:rPr lang="en" dirty="0"/>
              <a:t>Flour - STL           Baking Powder – KC</a:t>
            </a:r>
          </a:p>
          <a:p>
            <a:pPr marL="0" indent="0">
              <a:lnSpc>
                <a:spcPct val="95000"/>
              </a:lnSpc>
              <a:buSzPts val="935"/>
              <a:buNone/>
            </a:pPr>
            <a:r>
              <a:rPr lang="en" dirty="0"/>
              <a:t>Milk - STL             Vanilla – STL</a:t>
            </a:r>
          </a:p>
          <a:p>
            <a:pPr marL="0" indent="0">
              <a:lnSpc>
                <a:spcPct val="95000"/>
              </a:lnSpc>
              <a:buSzPts val="935"/>
              <a:buNone/>
            </a:pPr>
            <a:r>
              <a:rPr lang="en" dirty="0"/>
              <a:t>Sugar - STL            Salt - STL</a:t>
            </a:r>
          </a:p>
          <a:p>
            <a:pPr marL="0" lvl="0" indent="0" algn="l" rtl="0">
              <a:lnSpc>
                <a:spcPct val="95000"/>
              </a:lnSpc>
              <a:spcBef>
                <a:spcPts val="1200"/>
              </a:spcBef>
              <a:buSzPts val="935"/>
              <a:buNone/>
            </a:pPr>
            <a:endParaRPr sz="1829"/>
          </a:p>
          <a:p>
            <a:pPr marL="0" indent="0">
              <a:lnSpc>
                <a:spcPct val="95000"/>
              </a:lnSpc>
              <a:spcBef>
                <a:spcPts val="1200"/>
              </a:spcBef>
              <a:buSzPts val="935"/>
              <a:buNone/>
            </a:pPr>
            <a:endParaRPr lang="en-US" dirty="0"/>
          </a:p>
          <a:p>
            <a:pPr marL="0" indent="0">
              <a:lnSpc>
                <a:spcPct val="95000"/>
              </a:lnSpc>
              <a:spcBef>
                <a:spcPts val="1200"/>
              </a:spcBef>
              <a:buSzPts val="935"/>
              <a:buNone/>
            </a:pPr>
            <a:endParaRPr lang="en-US" dirty="0"/>
          </a:p>
          <a:p>
            <a:pPr marL="0" indent="0">
              <a:lnSpc>
                <a:spcPct val="95000"/>
              </a:lnSpc>
              <a:spcBef>
                <a:spcPts val="1200"/>
              </a:spcBef>
              <a:spcAft>
                <a:spcPts val="1200"/>
              </a:spcAft>
              <a:buSzPts val="935"/>
              <a:buNone/>
            </a:pPr>
            <a:endParaRPr lang="en-US" sz="1829"/>
          </a:p>
        </p:txBody>
      </p:sp>
    </p:spTree>
    <p:extLst>
      <p:ext uri="{BB962C8B-B14F-4D97-AF65-F5344CB8AC3E}">
        <p14:creationId xmlns:p14="http://schemas.microsoft.com/office/powerpoint/2010/main" val="2533284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77">
          <a:extLst>
            <a:ext uri="{FF2B5EF4-FFF2-40B4-BE49-F238E27FC236}">
              <a16:creationId xmlns:a16="http://schemas.microsoft.com/office/drawing/2014/main" id="{285BD4B0-B352-21BA-0489-B7EED1F9A5B5}"/>
            </a:ext>
          </a:extLst>
        </p:cNvPr>
        <p:cNvGrpSpPr/>
        <p:nvPr/>
      </p:nvGrpSpPr>
      <p:grpSpPr>
        <a:xfrm>
          <a:off x="0" y="0"/>
          <a:ext cx="0" cy="0"/>
          <a:chOff x="0" y="0"/>
          <a:chExt cx="0" cy="0"/>
        </a:xfrm>
      </p:grpSpPr>
      <p:sp>
        <p:nvSpPr>
          <p:cNvPr id="78" name="Google Shape;78;p17">
            <a:extLst>
              <a:ext uri="{FF2B5EF4-FFF2-40B4-BE49-F238E27FC236}">
                <a16:creationId xmlns:a16="http://schemas.microsoft.com/office/drawing/2014/main" id="{7AC309A4-D3B0-EE52-E005-E3A6C960724F}"/>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Buttons Levers and Dials</a:t>
            </a:r>
            <a:endParaRPr/>
          </a:p>
        </p:txBody>
      </p:sp>
      <p:sp>
        <p:nvSpPr>
          <p:cNvPr id="79" name="Google Shape;79;p17">
            <a:extLst>
              <a:ext uri="{FF2B5EF4-FFF2-40B4-BE49-F238E27FC236}">
                <a16:creationId xmlns:a16="http://schemas.microsoft.com/office/drawing/2014/main" id="{F534E471-088A-7B25-0398-3A6748BF905D}"/>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ctr" rtl="0">
              <a:spcBef>
                <a:spcPts val="1200"/>
              </a:spcBef>
              <a:spcAft>
                <a:spcPts val="1200"/>
              </a:spcAft>
              <a:buNone/>
            </a:pPr>
            <a:r>
              <a:rPr lang="en"/>
              <a:t>Server/Instance Level Settings</a:t>
            </a:r>
            <a:endParaRPr/>
          </a:p>
        </p:txBody>
      </p:sp>
    </p:spTree>
    <p:extLst>
      <p:ext uri="{BB962C8B-B14F-4D97-AF65-F5344CB8AC3E}">
        <p14:creationId xmlns:p14="http://schemas.microsoft.com/office/powerpoint/2010/main" val="3202902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85" name="Google Shape;85;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935"/>
              <a:buNone/>
            </a:pPr>
            <a:r>
              <a:rPr lang="en" dirty="0"/>
              <a:t>MAXDOP</a:t>
            </a:r>
            <a:endParaRPr dirty="0"/>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r>
              <a:rPr lang="en" dirty="0"/>
              <a:t>This setting controls how many CPU cores are used when a query goes parallel</a:t>
            </a:r>
            <a:endParaRPr dirty="0"/>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r>
              <a:rPr lang="en" dirty="0"/>
              <a:t>The default setting is zero, which lets SQL Server use all available cores</a:t>
            </a:r>
            <a:endParaRPr dirty="0"/>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r>
              <a:rPr lang="en" dirty="0"/>
              <a:t>The MAXDOP limit is set per task. Each request/session can start multiple tasks</a:t>
            </a:r>
            <a:endParaRPr dirty="0"/>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1200"/>
              </a:spcAft>
              <a:buSzPts val="935"/>
              <a:buNone/>
            </a:pPr>
            <a:endParaRPr sz="1829"/>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91" name="Google Shape;91;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935"/>
              <a:buNone/>
            </a:pPr>
            <a:r>
              <a:rPr lang="en" sz="1829"/>
              <a:t>MAXDOP</a:t>
            </a: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r>
              <a:rPr lang="en" sz="1829"/>
              <a:t>NUMA: </a:t>
            </a:r>
            <a:r>
              <a:rPr lang="en" sz="1829" u="sng">
                <a:solidFill>
                  <a:schemeClr val="hlink"/>
                </a:solidFill>
                <a:hlinkClick r:id="rId3"/>
              </a:rPr>
              <a:t>https://bit.ly/4kkVGbv</a:t>
            </a:r>
            <a:r>
              <a:rPr lang="en" sz="1829"/>
              <a:t> What Is Non-Uniform Memory Access (NUMA)? | IDERA </a:t>
            </a: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r>
              <a:rPr lang="en" sz="1829"/>
              <a:t>“Each physical socket and its directly attached RAM is known as a node hence a two-socket computer would have two NUMA nodes, a four socket would have four NUMA nodes, etc.”</a:t>
            </a: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1200"/>
              </a:spcAft>
              <a:buSzPts val="935"/>
              <a:buNone/>
            </a:pPr>
            <a:endParaRPr sz="1829"/>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935"/>
              <a:buNone/>
            </a:pPr>
            <a:r>
              <a:rPr lang="en" sz="1829"/>
              <a:t>MAXDOP: Image from </a:t>
            </a:r>
            <a:r>
              <a:rPr lang="en" sz="1829" u="sng">
                <a:solidFill>
                  <a:schemeClr val="hlink"/>
                </a:solidFill>
                <a:hlinkClick r:id="rId3"/>
              </a:rPr>
              <a:t>https://bit.ly/3HBOrxj</a:t>
            </a:r>
            <a:r>
              <a:rPr lang="en" sz="1829"/>
              <a:t>  Understanding Non-Uniform Memory Access/Architectures (NUMA) - Jonathan Kehayias</a:t>
            </a: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1200"/>
              </a:spcAft>
              <a:buSzPts val="935"/>
              <a:buNone/>
            </a:pPr>
            <a:endParaRPr sz="1829"/>
          </a:p>
        </p:txBody>
      </p:sp>
      <p:pic>
        <p:nvPicPr>
          <p:cNvPr id="98" name="Google Shape;98;p20"/>
          <p:cNvPicPr preferRelativeResize="0"/>
          <p:nvPr/>
        </p:nvPicPr>
        <p:blipFill>
          <a:blip r:embed="rId4">
            <a:alphaModFix/>
          </a:blip>
          <a:stretch>
            <a:fillRect/>
          </a:stretch>
        </p:blipFill>
        <p:spPr>
          <a:xfrm>
            <a:off x="755925" y="1743436"/>
            <a:ext cx="7258050" cy="3543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FDA3D7E3-42FE-E62E-A094-A8CA0801C832}"/>
            </a:ext>
          </a:extLst>
        </p:cNvPr>
        <p:cNvGrpSpPr/>
        <p:nvPr/>
      </p:nvGrpSpPr>
      <p:grpSpPr>
        <a:xfrm>
          <a:off x="0" y="0"/>
          <a:ext cx="0" cy="0"/>
          <a:chOff x="0" y="0"/>
          <a:chExt cx="0" cy="0"/>
        </a:xfrm>
      </p:grpSpPr>
      <p:sp>
        <p:nvSpPr>
          <p:cNvPr id="84" name="Google Shape;84;p18">
            <a:extLst>
              <a:ext uri="{FF2B5EF4-FFF2-40B4-BE49-F238E27FC236}">
                <a16:creationId xmlns:a16="http://schemas.microsoft.com/office/drawing/2014/main" id="{0A431E06-53AF-5762-0890-576CCFC951A6}"/>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85" name="Google Shape;85;p18">
            <a:extLst>
              <a:ext uri="{FF2B5EF4-FFF2-40B4-BE49-F238E27FC236}">
                <a16:creationId xmlns:a16="http://schemas.microsoft.com/office/drawing/2014/main" id="{28A7807A-1F88-F51E-40AA-895F97F224EC}"/>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indent="0">
              <a:lnSpc>
                <a:spcPct val="95000"/>
              </a:lnSpc>
              <a:buSzPts val="935"/>
              <a:buNone/>
            </a:pPr>
            <a:r>
              <a:rPr lang="en" dirty="0"/>
              <a:t>You're going to make a single cake together!</a:t>
            </a:r>
          </a:p>
          <a:p>
            <a:pPr marL="0" indent="0">
              <a:lnSpc>
                <a:spcPct val="95000"/>
              </a:lnSpc>
              <a:buSzPts val="935"/>
              <a:buNone/>
            </a:pPr>
            <a:endParaRPr lang="en" dirty="0"/>
          </a:p>
          <a:p>
            <a:pPr marL="0" indent="0">
              <a:lnSpc>
                <a:spcPct val="95000"/>
              </a:lnSpc>
              <a:buSzPts val="935"/>
              <a:buNone/>
            </a:pPr>
            <a:r>
              <a:rPr lang="en" dirty="0"/>
              <a:t>2 NUMA Nodes w/4 "cores" each, but MAXDOP is set to 8</a:t>
            </a:r>
          </a:p>
          <a:p>
            <a:pPr marL="0" indent="0">
              <a:lnSpc>
                <a:spcPct val="95000"/>
              </a:lnSpc>
              <a:buSzPts val="935"/>
              <a:buNone/>
            </a:pPr>
            <a:endParaRPr lang="en" dirty="0"/>
          </a:p>
          <a:p>
            <a:pPr marL="0" indent="0">
              <a:lnSpc>
                <a:spcPct val="95000"/>
              </a:lnSpc>
              <a:buSzPts val="935"/>
              <a:buNone/>
            </a:pPr>
            <a:r>
              <a:rPr lang="en" dirty="0"/>
              <a:t>Socket 1 – Local memory STL  Socket 2 – Local Memory KC</a:t>
            </a:r>
          </a:p>
          <a:p>
            <a:pPr marL="0" indent="0">
              <a:lnSpc>
                <a:spcPct val="95000"/>
              </a:lnSpc>
              <a:buSzPts val="935"/>
              <a:buNone/>
            </a:pPr>
            <a:r>
              <a:rPr lang="en" dirty="0"/>
              <a:t>Eggs - STL           Butter - KC</a:t>
            </a:r>
          </a:p>
          <a:p>
            <a:pPr marL="0" indent="0">
              <a:lnSpc>
                <a:spcPct val="95000"/>
              </a:lnSpc>
              <a:buSzPts val="935"/>
              <a:buNone/>
            </a:pPr>
            <a:r>
              <a:rPr lang="en" dirty="0"/>
              <a:t>Flour - STL           Baking Powder – KC</a:t>
            </a:r>
          </a:p>
          <a:p>
            <a:pPr marL="0" indent="0">
              <a:lnSpc>
                <a:spcPct val="95000"/>
              </a:lnSpc>
              <a:buSzPts val="935"/>
              <a:buNone/>
            </a:pPr>
            <a:r>
              <a:rPr lang="en" dirty="0"/>
              <a:t>Milk - STL             Vanilla – STL</a:t>
            </a:r>
          </a:p>
          <a:p>
            <a:pPr marL="0" indent="0">
              <a:lnSpc>
                <a:spcPct val="95000"/>
              </a:lnSpc>
              <a:buSzPts val="935"/>
              <a:buNone/>
            </a:pPr>
            <a:r>
              <a:rPr lang="en" dirty="0"/>
              <a:t>Sugar - STL            Salt - STL</a:t>
            </a:r>
          </a:p>
          <a:p>
            <a:pPr marL="0" lvl="0" indent="0" algn="l" rtl="0">
              <a:lnSpc>
                <a:spcPct val="95000"/>
              </a:lnSpc>
              <a:spcBef>
                <a:spcPts val="1200"/>
              </a:spcBef>
              <a:buSzPts val="935"/>
              <a:buNone/>
            </a:pPr>
            <a:endParaRPr sz="1829"/>
          </a:p>
          <a:p>
            <a:pPr marL="0" indent="0">
              <a:lnSpc>
                <a:spcPct val="95000"/>
              </a:lnSpc>
              <a:spcBef>
                <a:spcPts val="1200"/>
              </a:spcBef>
              <a:buSzPts val="935"/>
              <a:buNone/>
            </a:pPr>
            <a:endParaRPr lang="en-US" dirty="0"/>
          </a:p>
          <a:p>
            <a:pPr marL="0" indent="0">
              <a:lnSpc>
                <a:spcPct val="95000"/>
              </a:lnSpc>
              <a:spcBef>
                <a:spcPts val="1200"/>
              </a:spcBef>
              <a:buSzPts val="935"/>
              <a:buNone/>
            </a:pPr>
            <a:endParaRPr lang="en-US" dirty="0"/>
          </a:p>
          <a:p>
            <a:pPr marL="0" indent="0">
              <a:lnSpc>
                <a:spcPct val="95000"/>
              </a:lnSpc>
              <a:spcBef>
                <a:spcPts val="1200"/>
              </a:spcBef>
              <a:spcAft>
                <a:spcPts val="1200"/>
              </a:spcAft>
              <a:buSzPts val="935"/>
              <a:buNone/>
            </a:pPr>
            <a:endParaRPr lang="en-US" sz="1829"/>
          </a:p>
        </p:txBody>
      </p:sp>
    </p:spTree>
    <p:extLst>
      <p:ext uri="{BB962C8B-B14F-4D97-AF65-F5344CB8AC3E}">
        <p14:creationId xmlns:p14="http://schemas.microsoft.com/office/powerpoint/2010/main" val="1541750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104" name="Google Shape;104;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935"/>
              <a:buNone/>
            </a:pPr>
            <a:r>
              <a:rPr lang="en" sz="1829"/>
              <a:t>MAXDOP</a:t>
            </a: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r>
              <a:rPr lang="en" sz="1829"/>
              <a:t>MS Recommendation on MAXDOP: </a:t>
            </a:r>
            <a:r>
              <a:rPr lang="en" sz="1829" u="sng">
                <a:solidFill>
                  <a:schemeClr val="hlink"/>
                </a:solidFill>
                <a:hlinkClick r:id="rId3"/>
              </a:rPr>
              <a:t>https://bit.ly/3HhGb5N</a:t>
            </a:r>
            <a:r>
              <a:rPr lang="en" sz="1829"/>
              <a:t> </a:t>
            </a: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r>
              <a:rPr lang="en" sz="1829"/>
              <a:t>Two recommendations: </a:t>
            </a:r>
            <a:endParaRPr sz="1829"/>
          </a:p>
          <a:p>
            <a:pPr marL="0" lvl="0" indent="0" algn="l" rtl="0">
              <a:lnSpc>
                <a:spcPct val="95000"/>
              </a:lnSpc>
              <a:spcBef>
                <a:spcPts val="1200"/>
              </a:spcBef>
              <a:spcAft>
                <a:spcPts val="0"/>
              </a:spcAft>
              <a:buSzPts val="935"/>
              <a:buNone/>
            </a:pPr>
            <a:r>
              <a:rPr lang="en" sz="1829"/>
              <a:t>SQL Server 2014 and older</a:t>
            </a:r>
            <a:endParaRPr sz="1829"/>
          </a:p>
          <a:p>
            <a:pPr marL="0" lvl="0" indent="0" algn="l" rtl="0">
              <a:lnSpc>
                <a:spcPct val="95000"/>
              </a:lnSpc>
              <a:spcBef>
                <a:spcPts val="1200"/>
              </a:spcBef>
              <a:spcAft>
                <a:spcPts val="0"/>
              </a:spcAft>
              <a:buSzPts val="935"/>
              <a:buNone/>
            </a:pPr>
            <a:r>
              <a:rPr lang="en" sz="1829"/>
              <a:t>SQL Server 2016 and newer</a:t>
            </a: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1200"/>
              </a:spcAft>
              <a:buSzPts val="935"/>
              <a:buNone/>
            </a:pPr>
            <a:endParaRPr sz="1829"/>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110" name="Google Shape;110;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935"/>
              <a:buNone/>
            </a:pPr>
            <a:r>
              <a:rPr lang="en" sz="1829"/>
              <a:t>MAXDOP - SQL Server 2014 and older: </a:t>
            </a: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1200"/>
              </a:spcAft>
              <a:buSzPts val="935"/>
              <a:buNone/>
            </a:pPr>
            <a:endParaRPr sz="1829"/>
          </a:p>
        </p:txBody>
      </p:sp>
      <p:pic>
        <p:nvPicPr>
          <p:cNvPr id="111" name="Google Shape;111;p22"/>
          <p:cNvPicPr preferRelativeResize="0"/>
          <p:nvPr/>
        </p:nvPicPr>
        <p:blipFill>
          <a:blip r:embed="rId3">
            <a:alphaModFix/>
          </a:blip>
          <a:stretch>
            <a:fillRect/>
          </a:stretch>
        </p:blipFill>
        <p:spPr>
          <a:xfrm>
            <a:off x="767263" y="1583813"/>
            <a:ext cx="8143875" cy="27908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117" name="Google Shape;117;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935"/>
              <a:buNone/>
            </a:pPr>
            <a:r>
              <a:rPr lang="en" sz="1829"/>
              <a:t>MAXDOP - SQL Server 2016 and older</a:t>
            </a: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1200"/>
              </a:spcAft>
              <a:buSzPts val="935"/>
              <a:buNone/>
            </a:pPr>
            <a:endParaRPr sz="1829"/>
          </a:p>
        </p:txBody>
      </p:sp>
      <p:pic>
        <p:nvPicPr>
          <p:cNvPr id="118" name="Google Shape;118;p23"/>
          <p:cNvPicPr preferRelativeResize="0"/>
          <p:nvPr/>
        </p:nvPicPr>
        <p:blipFill>
          <a:blip r:embed="rId3">
            <a:alphaModFix/>
          </a:blip>
          <a:stretch>
            <a:fillRect/>
          </a:stretch>
        </p:blipFill>
        <p:spPr>
          <a:xfrm>
            <a:off x="812788" y="1637488"/>
            <a:ext cx="8143875" cy="3362325"/>
          </a:xfrm>
          <a:prstGeom prst="rect">
            <a:avLst/>
          </a:prstGeom>
          <a:noFill/>
          <a:ln>
            <a:noFill/>
          </a:ln>
        </p:spPr>
      </p:pic>
      <p:cxnSp>
        <p:nvCxnSpPr>
          <p:cNvPr id="119" name="Google Shape;119;p23"/>
          <p:cNvCxnSpPr/>
          <p:nvPr/>
        </p:nvCxnSpPr>
        <p:spPr>
          <a:xfrm flipH="1">
            <a:off x="4519700" y="3037675"/>
            <a:ext cx="425700" cy="403500"/>
          </a:xfrm>
          <a:prstGeom prst="straightConnector1">
            <a:avLst/>
          </a:prstGeom>
          <a:noFill/>
          <a:ln w="9525" cap="flat" cmpd="sng">
            <a:solidFill>
              <a:schemeClr val="dk2"/>
            </a:solidFill>
            <a:prstDash val="solid"/>
            <a:round/>
            <a:headEnd type="none" w="med" len="med"/>
            <a:tailEnd type="triangle" w="med" len="med"/>
          </a:ln>
        </p:spPr>
      </p:cxnSp>
      <p:cxnSp>
        <p:nvCxnSpPr>
          <p:cNvPr id="120" name="Google Shape;120;p23"/>
          <p:cNvCxnSpPr/>
          <p:nvPr/>
        </p:nvCxnSpPr>
        <p:spPr>
          <a:xfrm flipH="1">
            <a:off x="4519700" y="3494875"/>
            <a:ext cx="425700" cy="403500"/>
          </a:xfrm>
          <a:prstGeom prst="straightConnector1">
            <a:avLst/>
          </a:prstGeom>
          <a:noFill/>
          <a:ln w="9525" cap="flat" cmpd="sng">
            <a:solidFill>
              <a:schemeClr val="dk2"/>
            </a:solidFill>
            <a:prstDash val="solid"/>
            <a:round/>
            <a:headEnd type="none" w="med" len="med"/>
            <a:tailEnd type="triangle" w="med" len="med"/>
          </a:ln>
        </p:spPr>
      </p:cxnSp>
      <p:cxnSp>
        <p:nvCxnSpPr>
          <p:cNvPr id="121" name="Google Shape;121;p23"/>
          <p:cNvCxnSpPr/>
          <p:nvPr/>
        </p:nvCxnSpPr>
        <p:spPr>
          <a:xfrm flipH="1">
            <a:off x="8530975" y="3441175"/>
            <a:ext cx="425700" cy="4035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127" name="Google Shape;127;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935"/>
              <a:buNone/>
            </a:pPr>
            <a:r>
              <a:rPr lang="en"/>
              <a:t>MAXDOP</a:t>
            </a:r>
            <a:endParaRPr dirty="0"/>
          </a:p>
          <a:p>
            <a:pPr marL="0" indent="0">
              <a:lnSpc>
                <a:spcPct val="95000"/>
              </a:lnSpc>
              <a:spcBef>
                <a:spcPts val="1200"/>
              </a:spcBef>
              <a:buSzPts val="935"/>
              <a:buNone/>
            </a:pPr>
            <a:r>
              <a:rPr lang="en" dirty="0"/>
              <a:t>How can you see NUMA and CPU/Core Count?</a:t>
            </a:r>
            <a:endParaRPr lang="en-US" sz="1829" dirty="0"/>
          </a:p>
          <a:p>
            <a:pPr marL="0" indent="0">
              <a:lnSpc>
                <a:spcPct val="95000"/>
              </a:lnSpc>
              <a:spcBef>
                <a:spcPts val="1200"/>
              </a:spcBef>
              <a:buSzPts val="935"/>
              <a:buNone/>
            </a:pPr>
            <a:r>
              <a:rPr lang="en-US" dirty="0"/>
              <a:t>SELECT </a:t>
            </a:r>
            <a:r>
              <a:rPr lang="en-US" dirty="0" err="1"/>
              <a:t>n.node_id</a:t>
            </a:r>
            <a:r>
              <a:rPr lang="en-US" dirty="0"/>
              <a:t>,                      -- NUMA node identifier</a:t>
            </a:r>
          </a:p>
          <a:p>
            <a:pPr marL="0" lvl="0" indent="0" algn="l">
              <a:lnSpc>
                <a:spcPct val="95000"/>
              </a:lnSpc>
              <a:spcBef>
                <a:spcPts val="1200"/>
              </a:spcBef>
              <a:spcAft>
                <a:spcPts val="0"/>
              </a:spcAft>
              <a:buSzPts val="935"/>
              <a:buNone/>
            </a:pPr>
            <a:r>
              <a:rPr lang="en-US" dirty="0" err="1"/>
              <a:t>n.memory_node_id</a:t>
            </a:r>
            <a:r>
              <a:rPr lang="en-US" dirty="0"/>
              <a:t>,               -- Memory node ID (usually same as </a:t>
            </a:r>
            <a:r>
              <a:rPr lang="en-US" dirty="0" err="1"/>
              <a:t>node_id</a:t>
            </a:r>
            <a:r>
              <a:rPr lang="en-US" dirty="0"/>
              <a:t>)</a:t>
            </a:r>
            <a:endParaRPr lang="en-US"/>
          </a:p>
          <a:p>
            <a:pPr marL="0" indent="0">
              <a:lnSpc>
                <a:spcPct val="95000"/>
              </a:lnSpc>
              <a:spcBef>
                <a:spcPts val="1200"/>
              </a:spcBef>
              <a:buNone/>
            </a:pPr>
            <a:r>
              <a:rPr lang="en-US" dirty="0" err="1"/>
              <a:t>n.cpu_count</a:t>
            </a:r>
            <a:r>
              <a:rPr lang="en-US" dirty="0"/>
              <a:t> AS </a:t>
            </a:r>
            <a:r>
              <a:rPr lang="en-US" dirty="0" err="1"/>
              <a:t>node_cpu_count</a:t>
            </a:r>
            <a:r>
              <a:rPr lang="en-US" dirty="0"/>
              <a:t>, -- Number of CPUs in this NUMA node</a:t>
            </a:r>
            <a:endParaRPr dirty="0"/>
          </a:p>
          <a:p>
            <a:pPr marL="0" lvl="0" indent="0" algn="l" rtl="0">
              <a:lnSpc>
                <a:spcPct val="95000"/>
              </a:lnSpc>
              <a:spcBef>
                <a:spcPts val="1200"/>
              </a:spcBef>
              <a:spcAft>
                <a:spcPts val="0"/>
              </a:spcAft>
              <a:buClr>
                <a:schemeClr val="dk1"/>
              </a:buClr>
              <a:buSzPts val="1100"/>
              <a:buFont typeface="Arial"/>
              <a:buNone/>
            </a:pPr>
            <a:r>
              <a:rPr lang="en" dirty="0"/>
              <a:t>FROM </a:t>
            </a:r>
            <a:r>
              <a:rPr lang="en" dirty="0" err="1"/>
              <a:t>sys.dm_os_nodes</a:t>
            </a:r>
            <a:r>
              <a:rPr lang="en" dirty="0"/>
              <a:t> AS n</a:t>
            </a:r>
            <a:endParaRPr dirty="0"/>
          </a:p>
          <a:p>
            <a:pPr marL="0" lvl="0" indent="0" algn="l" rtl="0">
              <a:lnSpc>
                <a:spcPct val="95000"/>
              </a:lnSpc>
              <a:spcBef>
                <a:spcPts val="1200"/>
              </a:spcBef>
              <a:spcAft>
                <a:spcPts val="0"/>
              </a:spcAft>
              <a:buClr>
                <a:schemeClr val="dk1"/>
              </a:buClr>
              <a:buSzPts val="1100"/>
              <a:buFont typeface="Arial"/>
              <a:buNone/>
            </a:pPr>
            <a:r>
              <a:rPr lang="en" dirty="0"/>
              <a:t>JOIN </a:t>
            </a:r>
            <a:r>
              <a:rPr lang="en" dirty="0" err="1"/>
              <a:t>sys.dm_os_schedulers</a:t>
            </a:r>
            <a:r>
              <a:rPr lang="en" dirty="0"/>
              <a:t> AS s ON </a:t>
            </a:r>
            <a:r>
              <a:rPr lang="en" dirty="0" err="1"/>
              <a:t>n.node_id</a:t>
            </a:r>
            <a:r>
              <a:rPr lang="en" dirty="0"/>
              <a:t> = </a:t>
            </a:r>
            <a:r>
              <a:rPr lang="en" dirty="0" err="1"/>
              <a:t>s.node_id</a:t>
            </a:r>
            <a:endParaRPr dirty="0" err="1"/>
          </a:p>
          <a:p>
            <a:pPr marL="0" lvl="0" indent="0" algn="l" rtl="0">
              <a:lnSpc>
                <a:spcPct val="95000"/>
              </a:lnSpc>
              <a:spcBef>
                <a:spcPts val="1200"/>
              </a:spcBef>
              <a:spcAft>
                <a:spcPts val="0"/>
              </a:spcAft>
              <a:buClr>
                <a:schemeClr val="dk1"/>
              </a:buClr>
              <a:buSzPts val="1100"/>
              <a:buFont typeface="Arial"/>
              <a:buNone/>
            </a:pPr>
            <a:r>
              <a:rPr lang="en" dirty="0"/>
              <a:t>WHERE </a:t>
            </a:r>
            <a:r>
              <a:rPr lang="en" dirty="0" err="1"/>
              <a:t>s.status</a:t>
            </a:r>
            <a:r>
              <a:rPr lang="en" dirty="0"/>
              <a:t> = 'VISIBLE ONLINE' -- excludes hidden or DAC schedulers</a:t>
            </a:r>
            <a:endParaRPr dirty="0"/>
          </a:p>
          <a:p>
            <a:pPr marL="0" lvl="0" indent="0" algn="l" rtl="0">
              <a:lnSpc>
                <a:spcPct val="95000"/>
              </a:lnSpc>
              <a:spcBef>
                <a:spcPts val="1200"/>
              </a:spcBef>
              <a:spcAft>
                <a:spcPts val="0"/>
              </a:spcAft>
              <a:buClr>
                <a:schemeClr val="dk1"/>
              </a:buClr>
              <a:buSzPts val="1100"/>
              <a:buFont typeface="Arial"/>
              <a:buNone/>
            </a:pPr>
            <a:r>
              <a:rPr lang="en" dirty="0"/>
              <a:t>    AND </a:t>
            </a:r>
            <a:r>
              <a:rPr lang="en" dirty="0" err="1"/>
              <a:t>s.is_online</a:t>
            </a:r>
            <a:r>
              <a:rPr lang="en" dirty="0"/>
              <a:t> = 1</a:t>
            </a:r>
            <a:endParaRPr dirty="0"/>
          </a:p>
          <a:p>
            <a:pPr marL="0" lvl="0" indent="0" algn="l" rtl="0">
              <a:lnSpc>
                <a:spcPct val="95000"/>
              </a:lnSpc>
              <a:spcBef>
                <a:spcPts val="1200"/>
              </a:spcBef>
              <a:spcAft>
                <a:spcPts val="0"/>
              </a:spcAft>
              <a:buClr>
                <a:schemeClr val="dk1"/>
              </a:buClr>
              <a:buSzPts val="1100"/>
              <a:buFont typeface="Arial"/>
              <a:buNone/>
            </a:pPr>
            <a:r>
              <a:rPr lang="en" dirty="0"/>
              <a:t>    AND </a:t>
            </a:r>
            <a:r>
              <a:rPr lang="en" dirty="0" err="1"/>
              <a:t>s.scheduler_id</a:t>
            </a:r>
            <a:r>
              <a:rPr lang="en" dirty="0"/>
              <a:t> &lt; 1048576 -- filters out internal schedulers</a:t>
            </a:r>
            <a:endParaRPr dirty="0"/>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1200"/>
              </a:spcAft>
              <a:buSzPts val="935"/>
              <a:buNone/>
            </a:pPr>
            <a:endParaRPr sz="1829"/>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133" name="Google Shape;133;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935"/>
              <a:buNone/>
            </a:pPr>
            <a:r>
              <a:rPr lang="en" dirty="0"/>
              <a:t>MAXDOP</a:t>
            </a:r>
            <a:endParaRPr dirty="0"/>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endParaRPr sz="1829"/>
          </a:p>
          <a:p>
            <a:pPr marL="0" lvl="0" indent="0" algn="l" rtl="0">
              <a:lnSpc>
                <a:spcPct val="95000"/>
              </a:lnSpc>
              <a:spcBef>
                <a:spcPts val="1200"/>
              </a:spcBef>
              <a:spcAft>
                <a:spcPts val="0"/>
              </a:spcAft>
              <a:buSzPts val="935"/>
              <a:buNone/>
            </a:pPr>
            <a:r>
              <a:rPr lang="en" dirty="0"/>
              <a:t>SQL Server 2019 (15.x) introduced automatic recommendations for MAXDOP in the installer. It detects the NUMA for you and makes a recommendation.</a:t>
            </a:r>
            <a:endParaRPr dirty="0"/>
          </a:p>
          <a:p>
            <a:pPr marL="0" lvl="0" indent="0" algn="l">
              <a:lnSpc>
                <a:spcPct val="95000"/>
              </a:lnSpc>
              <a:spcBef>
                <a:spcPts val="1200"/>
              </a:spcBef>
              <a:spcAft>
                <a:spcPts val="0"/>
              </a:spcAft>
              <a:buSzPts val="935"/>
              <a:buNone/>
            </a:pPr>
            <a:endParaRPr lang="en" dirty="0"/>
          </a:p>
          <a:p>
            <a:pPr marL="0" indent="0">
              <a:lnSpc>
                <a:spcPct val="95000"/>
              </a:lnSpc>
              <a:spcBef>
                <a:spcPts val="1200"/>
              </a:spcBef>
              <a:buSzPts val="935"/>
              <a:buNone/>
            </a:pPr>
            <a:r>
              <a:rPr lang="en" dirty="0"/>
              <a:t>If you want more gritty details, check out this blog post.</a:t>
            </a:r>
          </a:p>
          <a:p>
            <a:pPr marL="0" indent="0">
              <a:lnSpc>
                <a:spcPct val="95000"/>
              </a:lnSpc>
              <a:spcBef>
                <a:spcPts val="1200"/>
              </a:spcBef>
              <a:buNone/>
            </a:pPr>
            <a:r>
              <a:rPr lang="en" dirty="0">
                <a:hlinkClick r:id="rId3"/>
              </a:rPr>
              <a:t>https://erikdarling.com/thoughts-on-maxdop/</a:t>
            </a:r>
            <a:r>
              <a:rPr lang="en" dirty="0"/>
              <a:t> </a:t>
            </a:r>
          </a:p>
          <a:p>
            <a:pPr marL="0" indent="0">
              <a:lnSpc>
                <a:spcPct val="95000"/>
              </a:lnSpc>
              <a:spcBef>
                <a:spcPts val="1200"/>
              </a:spcBef>
              <a:buSzPts val="935"/>
              <a:buNone/>
            </a:pPr>
            <a:endParaRPr lang="en-US" sz="1829"/>
          </a:p>
          <a:p>
            <a:pPr marL="0" indent="0">
              <a:lnSpc>
                <a:spcPct val="95000"/>
              </a:lnSpc>
              <a:spcBef>
                <a:spcPts val="1200"/>
              </a:spcBef>
              <a:spcAft>
                <a:spcPts val="1200"/>
              </a:spcAft>
              <a:buSzPts val="935"/>
              <a:buNone/>
            </a:pPr>
            <a:endParaRPr lang="en-US" sz="1829"/>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92A0FB6F-BF0F-4819-14E9-75251FB68D26}"/>
            </a:ext>
          </a:extLst>
        </p:cNvPr>
        <p:cNvGrpSpPr/>
        <p:nvPr/>
      </p:nvGrpSpPr>
      <p:grpSpPr>
        <a:xfrm>
          <a:off x="0" y="0"/>
          <a:ext cx="0" cy="0"/>
          <a:chOff x="0" y="0"/>
          <a:chExt cx="0" cy="0"/>
        </a:xfrm>
      </p:grpSpPr>
      <p:sp>
        <p:nvSpPr>
          <p:cNvPr id="78" name="Google Shape;78;p17">
            <a:extLst>
              <a:ext uri="{FF2B5EF4-FFF2-40B4-BE49-F238E27FC236}">
                <a16:creationId xmlns:a16="http://schemas.microsoft.com/office/drawing/2014/main" id="{A9DDE670-B77B-4F74-B5F2-84BACC8ECB7E}"/>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algn="ctr"/>
            <a:r>
              <a:rPr lang="en" dirty="0"/>
              <a:t>Server Level Settings</a:t>
            </a:r>
            <a:endParaRPr dirty="0"/>
          </a:p>
        </p:txBody>
      </p:sp>
      <p:sp>
        <p:nvSpPr>
          <p:cNvPr id="79" name="Google Shape;79;p17">
            <a:extLst>
              <a:ext uri="{FF2B5EF4-FFF2-40B4-BE49-F238E27FC236}">
                <a16:creationId xmlns:a16="http://schemas.microsoft.com/office/drawing/2014/main" id="{3E0A2408-181F-B7B5-2BD6-39389A0C76A5}"/>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indent="0" algn="ctr">
              <a:spcBef>
                <a:spcPts val="1200"/>
              </a:spcBef>
              <a:spcAft>
                <a:spcPts val="1200"/>
              </a:spcAft>
              <a:buNone/>
            </a:pPr>
            <a:r>
              <a:rPr lang="en" dirty="0"/>
              <a:t>COST THRESHOLD FOR PARALLELISM</a:t>
            </a:r>
            <a:endParaRPr dirty="0"/>
          </a:p>
        </p:txBody>
      </p:sp>
    </p:spTree>
    <p:extLst>
      <p:ext uri="{BB962C8B-B14F-4D97-AF65-F5344CB8AC3E}">
        <p14:creationId xmlns:p14="http://schemas.microsoft.com/office/powerpoint/2010/main" val="2474171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139" name="Google Shape;139;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CTFP</a:t>
            </a:r>
            <a:endParaRPr dirty="0"/>
          </a:p>
          <a:p>
            <a:pPr marL="0" lvl="0" indent="0" algn="l" rtl="0">
              <a:spcBef>
                <a:spcPts val="1200"/>
              </a:spcBef>
              <a:spcAft>
                <a:spcPts val="0"/>
              </a:spcAft>
              <a:buNone/>
            </a:pPr>
            <a:endParaRPr/>
          </a:p>
          <a:p>
            <a:pPr marL="0" lvl="0" indent="0" algn="l" rtl="0">
              <a:spcBef>
                <a:spcPts val="1200"/>
              </a:spcBef>
              <a:spcAft>
                <a:spcPts val="0"/>
              </a:spcAft>
              <a:buNone/>
            </a:pPr>
            <a:r>
              <a:rPr lang="en" dirty="0"/>
              <a:t>This setting is the minimum estimated cost a query must reach in order for SQL Server to consider parallel plans.</a:t>
            </a:r>
            <a:endParaRPr dirty="0"/>
          </a:p>
          <a:p>
            <a:pPr marL="0" lvl="0" indent="0" algn="l" rtl="0">
              <a:spcBef>
                <a:spcPts val="1200"/>
              </a:spcBef>
              <a:spcAft>
                <a:spcPts val="0"/>
              </a:spcAft>
              <a:buNone/>
            </a:pPr>
            <a:endParaRPr/>
          </a:p>
          <a:p>
            <a:pPr marL="0" lvl="0" indent="0" algn="l" rtl="0">
              <a:spcBef>
                <a:spcPts val="1200"/>
              </a:spcBef>
              <a:spcAft>
                <a:spcPts val="1200"/>
              </a:spcAft>
              <a:buNone/>
            </a:pPr>
            <a:r>
              <a:rPr lang="en" dirty="0"/>
              <a:t>The current default is 5. It comes from the 90’s when a person at Microsoft set the value based on how long a query took to run on their hardware.</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145" name="Google Shape;145;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dirty="0"/>
              <a:t>CTFP</a:t>
            </a:r>
            <a:endParaRPr dirty="0"/>
          </a:p>
          <a:p>
            <a:pPr marL="0" lvl="0" indent="0" algn="l" rtl="0">
              <a:spcBef>
                <a:spcPts val="1200"/>
              </a:spcBef>
              <a:spcAft>
                <a:spcPts val="0"/>
              </a:spcAft>
              <a:buNone/>
            </a:pPr>
            <a:endParaRPr dirty="0"/>
          </a:p>
          <a:p>
            <a:pPr marL="0" lvl="0" indent="0" algn="l" rtl="0">
              <a:spcBef>
                <a:spcPts val="1200"/>
              </a:spcBef>
              <a:spcAft>
                <a:spcPts val="0"/>
              </a:spcAft>
              <a:buNone/>
            </a:pPr>
            <a:r>
              <a:rPr lang="en" dirty="0"/>
              <a:t>Why is a default of 5 too low? </a:t>
            </a:r>
            <a:endParaRPr dirty="0"/>
          </a:p>
          <a:p>
            <a:pPr marL="0" lvl="0" indent="0" algn="l" rtl="0">
              <a:spcBef>
                <a:spcPts val="1200"/>
              </a:spcBef>
              <a:spcAft>
                <a:spcPts val="0"/>
              </a:spcAft>
              <a:buNone/>
            </a:pPr>
            <a:endParaRPr dirty="0"/>
          </a:p>
          <a:p>
            <a:pPr marL="0" lvl="0" indent="0" algn="l" rtl="0">
              <a:spcBef>
                <a:spcPts val="1200"/>
              </a:spcBef>
              <a:spcAft>
                <a:spcPts val="1200"/>
              </a:spcAft>
              <a:buNone/>
            </a:pPr>
            <a:r>
              <a:rPr lang="en" dirty="0"/>
              <a:t>Advancements in hardware mean that a “big, costly” query in the 90’s is a TINY, LOW COST query now. An average query now has a cost that is much larger than in the 90’s and so it will go parallel when CTFP is set to 5. This results in queries going parallel that don’t need to. </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151" name="Google Shape;151;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CTFP</a:t>
            </a:r>
            <a:endParaRPr dirty="0"/>
          </a:p>
          <a:p>
            <a:pPr marL="0" lvl="0" indent="0" algn="l" rtl="0">
              <a:spcBef>
                <a:spcPts val="1200"/>
              </a:spcBef>
              <a:spcAft>
                <a:spcPts val="0"/>
              </a:spcAft>
              <a:buNone/>
            </a:pPr>
            <a:endParaRPr dirty="0"/>
          </a:p>
          <a:p>
            <a:pPr marL="0" lvl="0" indent="0" algn="l" rtl="0">
              <a:spcBef>
                <a:spcPts val="1200"/>
              </a:spcBef>
              <a:spcAft>
                <a:spcPts val="0"/>
              </a:spcAft>
              <a:buClr>
                <a:schemeClr val="dk1"/>
              </a:buClr>
              <a:buSzPts val="1100"/>
              <a:buFont typeface="Arial"/>
              <a:buNone/>
            </a:pPr>
            <a:r>
              <a:rPr lang="en" dirty="0"/>
              <a:t>A common guideline is to set CTFP to 50</a:t>
            </a:r>
            <a:endParaRPr dirty="0"/>
          </a:p>
          <a:p>
            <a:pPr marL="0" lvl="0" indent="0" algn="l" rtl="0">
              <a:spcBef>
                <a:spcPts val="1200"/>
              </a:spcBef>
              <a:spcAft>
                <a:spcPts val="0"/>
              </a:spcAft>
              <a:buNone/>
            </a:pPr>
            <a:r>
              <a:rPr lang="en" u="sng" dirty="0">
                <a:solidFill>
                  <a:schemeClr val="hlink"/>
                </a:solidFill>
                <a:hlinkClick r:id="rId3"/>
              </a:rPr>
              <a:t>https://bit.ly/4dPuL5l</a:t>
            </a:r>
            <a:r>
              <a:rPr lang="en" dirty="0"/>
              <a:t> </a:t>
            </a:r>
            <a:r>
              <a:rPr lang="en" dirty="0">
                <a:solidFill>
                  <a:schemeClr val="dk1"/>
                </a:solidFill>
              </a:rPr>
              <a:t>Eitan Blumin's blog</a:t>
            </a:r>
            <a:endParaRPr dirty="0">
              <a:solidFill>
                <a:schemeClr val="dk1"/>
              </a:solidFill>
            </a:endParaRPr>
          </a:p>
          <a:p>
            <a:pPr marL="0" lvl="0" indent="0" algn="l" rtl="0">
              <a:spcBef>
                <a:spcPts val="1200"/>
              </a:spcBef>
              <a:spcAft>
                <a:spcPts val="0"/>
              </a:spcAft>
              <a:buNone/>
            </a:pPr>
            <a:r>
              <a:rPr lang="en" dirty="0"/>
              <a:t>Querying the plan cache to see what queries go parallel at a certain cost threshold</a:t>
            </a:r>
            <a:endParaRPr dirty="0"/>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2A772CA2-742D-9D20-FC57-18260E6A10D0}"/>
            </a:ext>
          </a:extLst>
        </p:cNvPr>
        <p:cNvGrpSpPr/>
        <p:nvPr/>
      </p:nvGrpSpPr>
      <p:grpSpPr>
        <a:xfrm>
          <a:off x="0" y="0"/>
          <a:ext cx="0" cy="0"/>
          <a:chOff x="0" y="0"/>
          <a:chExt cx="0" cy="0"/>
        </a:xfrm>
      </p:grpSpPr>
      <p:sp>
        <p:nvSpPr>
          <p:cNvPr id="78" name="Google Shape;78;p17">
            <a:extLst>
              <a:ext uri="{FF2B5EF4-FFF2-40B4-BE49-F238E27FC236}">
                <a16:creationId xmlns:a16="http://schemas.microsoft.com/office/drawing/2014/main" id="{836E328C-E87A-0FCF-CD88-87159DC4A21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algn="ctr"/>
            <a:r>
              <a:rPr lang="en" dirty="0"/>
              <a:t>Server Level Settings</a:t>
            </a:r>
            <a:endParaRPr dirty="0"/>
          </a:p>
        </p:txBody>
      </p:sp>
      <p:sp>
        <p:nvSpPr>
          <p:cNvPr id="79" name="Google Shape;79;p17">
            <a:extLst>
              <a:ext uri="{FF2B5EF4-FFF2-40B4-BE49-F238E27FC236}">
                <a16:creationId xmlns:a16="http://schemas.microsoft.com/office/drawing/2014/main" id="{92FA83A0-7D01-E9BF-617A-4EED13B4AF80}"/>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indent="0" algn="ctr">
              <a:spcBef>
                <a:spcPts val="1200"/>
              </a:spcBef>
              <a:spcAft>
                <a:spcPts val="1200"/>
              </a:spcAft>
              <a:buNone/>
            </a:pPr>
            <a:r>
              <a:rPr lang="en" dirty="0"/>
              <a:t>MAX SERVER MEMORY</a:t>
            </a:r>
          </a:p>
        </p:txBody>
      </p:sp>
    </p:spTree>
    <p:extLst>
      <p:ext uri="{BB962C8B-B14F-4D97-AF65-F5344CB8AC3E}">
        <p14:creationId xmlns:p14="http://schemas.microsoft.com/office/powerpoint/2010/main" val="9525467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157" name="Google Shape;157;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MAX Server Memory</a:t>
            </a:r>
            <a:endParaRPr/>
          </a:p>
          <a:p>
            <a:pPr marL="0" lvl="0" indent="0" algn="l" rtl="0">
              <a:spcBef>
                <a:spcPts val="1200"/>
              </a:spcBef>
              <a:spcAft>
                <a:spcPts val="0"/>
              </a:spcAft>
              <a:buNone/>
            </a:pPr>
            <a:endParaRPr/>
          </a:p>
          <a:p>
            <a:pPr marL="0" lvl="0" indent="0" algn="l" rtl="0">
              <a:spcBef>
                <a:spcPts val="1200"/>
              </a:spcBef>
              <a:spcAft>
                <a:spcPts val="0"/>
              </a:spcAft>
              <a:buNone/>
            </a:pPr>
            <a:r>
              <a:rPr lang="en"/>
              <a:t>Poor default of 2 Petabytes(2000 Terabytes) - This default can cause memory pressure with the OS</a:t>
            </a:r>
            <a:endParaRPr/>
          </a:p>
          <a:p>
            <a:pPr marL="0" lvl="0" indent="0" algn="l" rtl="0">
              <a:spcBef>
                <a:spcPts val="1200"/>
              </a:spcBef>
              <a:spcAft>
                <a:spcPts val="120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163" name="Google Shape;163;p30"/>
          <p:cNvSpPr txBox="1">
            <a:spLocks noGrp="1"/>
          </p:cNvSpPr>
          <p:nvPr>
            <p:ph type="body" idx="1"/>
          </p:nvPr>
        </p:nvSpPr>
        <p:spPr>
          <a:xfrm>
            <a:off x="311700" y="1152475"/>
            <a:ext cx="8783100" cy="3990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MAX Server Memory</a:t>
            </a:r>
            <a:endParaRPr/>
          </a:p>
          <a:p>
            <a:pPr marL="0" lvl="0" indent="0" algn="l" rtl="0">
              <a:spcBef>
                <a:spcPts val="1200"/>
              </a:spcBef>
              <a:spcAft>
                <a:spcPts val="0"/>
              </a:spcAft>
              <a:buNone/>
            </a:pPr>
            <a:endParaRPr/>
          </a:p>
          <a:p>
            <a:pPr marL="0" lvl="0" indent="0" algn="l" rtl="0">
              <a:spcBef>
                <a:spcPts val="1200"/>
              </a:spcBef>
              <a:spcAft>
                <a:spcPts val="0"/>
              </a:spcAft>
              <a:buNone/>
            </a:pPr>
            <a:r>
              <a:rPr lang="en" sz="1100">
                <a:solidFill>
                  <a:schemeClr val="dk1"/>
                </a:solidFill>
              </a:rPr>
              <a:t>Photo by</a:t>
            </a:r>
            <a:r>
              <a:rPr lang="en" sz="1100">
                <a:solidFill>
                  <a:schemeClr val="dk1"/>
                </a:solidFill>
                <a:uFill>
                  <a:noFill/>
                </a:uFill>
                <a:hlinkClick r:id="rId3">
                  <a:extLst>
                    <a:ext uri="{A12FA001-AC4F-418D-AE19-62706E023703}">
                      <ahyp:hlinkClr xmlns:ahyp="http://schemas.microsoft.com/office/drawing/2018/hyperlinkcolor" val="tx"/>
                    </a:ext>
                  </a:extLst>
                </a:hlinkClick>
              </a:rPr>
              <a:t> </a:t>
            </a:r>
            <a:r>
              <a:rPr lang="en" sz="1100" u="sng">
                <a:solidFill>
                  <a:schemeClr val="hlink"/>
                </a:solidFill>
                <a:hlinkClick r:id="rId3"/>
              </a:rPr>
              <a:t>Hermes Rivera</a:t>
            </a:r>
            <a:r>
              <a:rPr lang="en" sz="1100">
                <a:solidFill>
                  <a:schemeClr val="dk1"/>
                </a:solidFill>
              </a:rPr>
              <a:t> on</a:t>
            </a:r>
            <a:r>
              <a:rPr lang="en" sz="1100">
                <a:solidFill>
                  <a:schemeClr val="dk1"/>
                </a:solidFill>
                <a:uFill>
                  <a:noFill/>
                </a:uFill>
                <a:hlinkClick r:id="rId4">
                  <a:extLst>
                    <a:ext uri="{A12FA001-AC4F-418D-AE19-62706E023703}">
                      <ahyp:hlinkClr xmlns:ahyp="http://schemas.microsoft.com/office/drawing/2018/hyperlinkcolor" val="tx"/>
                    </a:ext>
                  </a:extLst>
                </a:hlinkClick>
              </a:rPr>
              <a:t> </a:t>
            </a:r>
            <a:r>
              <a:rPr lang="en" sz="1100" u="sng">
                <a:solidFill>
                  <a:schemeClr val="hlink"/>
                </a:solidFill>
                <a:hlinkClick r:id="rId4"/>
              </a:rPr>
              <a:t>Unsplash</a:t>
            </a:r>
            <a:r>
              <a:rPr lang="en" sz="1100">
                <a:solidFill>
                  <a:schemeClr val="dk1"/>
                </a:solidFill>
              </a:rPr>
              <a:t> </a:t>
            </a:r>
            <a:endParaRPr/>
          </a:p>
          <a:p>
            <a:pPr marL="0" lvl="0" indent="0" algn="l" rtl="0">
              <a:spcBef>
                <a:spcPts val="1200"/>
              </a:spcBef>
              <a:spcAft>
                <a:spcPts val="1200"/>
              </a:spcAft>
              <a:buNone/>
            </a:pPr>
            <a:endParaRPr/>
          </a:p>
        </p:txBody>
      </p:sp>
      <p:pic>
        <p:nvPicPr>
          <p:cNvPr id="164" name="Google Shape;164;p30" title="hermes-rivera-_rNVw54xZZg-unsplash.jpg"/>
          <p:cNvPicPr preferRelativeResize="0"/>
          <p:nvPr/>
        </p:nvPicPr>
        <p:blipFill>
          <a:blip r:embed="rId5">
            <a:alphaModFix/>
          </a:blip>
          <a:stretch>
            <a:fillRect/>
          </a:stretch>
        </p:blipFill>
        <p:spPr>
          <a:xfrm>
            <a:off x="2742601" y="1242800"/>
            <a:ext cx="6401398" cy="42665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170" name="Google Shape;170;p31"/>
          <p:cNvSpPr txBox="1">
            <a:spLocks noGrp="1"/>
          </p:cNvSpPr>
          <p:nvPr>
            <p:ph type="body" idx="1"/>
          </p:nvPr>
        </p:nvSpPr>
        <p:spPr>
          <a:xfrm>
            <a:off x="311700" y="1155675"/>
            <a:ext cx="8520600" cy="3895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MAX Server Memory</a:t>
            </a:r>
            <a:endParaRPr dirty="0"/>
          </a:p>
          <a:p>
            <a:pPr marL="0" lvl="0" indent="0" algn="l" rtl="0">
              <a:spcBef>
                <a:spcPts val="1200"/>
              </a:spcBef>
              <a:spcAft>
                <a:spcPts val="0"/>
              </a:spcAft>
              <a:buNone/>
            </a:pPr>
            <a:endParaRPr/>
          </a:p>
          <a:p>
            <a:pPr marL="0" lvl="0" indent="0" algn="l" rtl="0">
              <a:spcBef>
                <a:spcPts val="1200"/>
              </a:spcBef>
              <a:spcAft>
                <a:spcPts val="0"/>
              </a:spcAft>
              <a:buNone/>
            </a:pPr>
            <a:r>
              <a:rPr lang="en" dirty="0"/>
              <a:t>A significant part of SQL Server process memory has been paged out. This may result in a performance degradation. Duration: %d seconds. Working set (KB): %I64d, committed (KB): %I64d, memory utilization: %d%%.</a:t>
            </a:r>
            <a:endParaRPr dirty="0"/>
          </a:p>
          <a:p>
            <a:pPr marL="0" lvl="0" indent="0" algn="l" rtl="0">
              <a:spcBef>
                <a:spcPts val="1200"/>
              </a:spcBef>
              <a:spcAft>
                <a:spcPts val="0"/>
              </a:spcAft>
              <a:buNone/>
            </a:pPr>
            <a:endParaRPr/>
          </a:p>
          <a:p>
            <a:pPr marL="0" lvl="0" indent="0" algn="l" rtl="0">
              <a:spcBef>
                <a:spcPts val="1200"/>
              </a:spcBef>
              <a:spcAft>
                <a:spcPts val="0"/>
              </a:spcAft>
              <a:buNone/>
            </a:pPr>
            <a:endParaRPr lang="en" dirty="0"/>
          </a:p>
          <a:p>
            <a:pPr marL="0" lvl="0" indent="0" algn="l" rtl="0">
              <a:spcBef>
                <a:spcPts val="1200"/>
              </a:spcBef>
              <a:spcAft>
                <a:spcPts val="120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8">
          <a:extLst>
            <a:ext uri="{FF2B5EF4-FFF2-40B4-BE49-F238E27FC236}">
              <a16:creationId xmlns:a16="http://schemas.microsoft.com/office/drawing/2014/main" id="{C737D631-53C8-C188-731D-E204198B8B0C}"/>
            </a:ext>
          </a:extLst>
        </p:cNvPr>
        <p:cNvGrpSpPr/>
        <p:nvPr/>
      </p:nvGrpSpPr>
      <p:grpSpPr>
        <a:xfrm>
          <a:off x="0" y="0"/>
          <a:ext cx="0" cy="0"/>
          <a:chOff x="0" y="0"/>
          <a:chExt cx="0" cy="0"/>
        </a:xfrm>
      </p:grpSpPr>
      <p:sp>
        <p:nvSpPr>
          <p:cNvPr id="169" name="Google Shape;169;p31">
            <a:extLst>
              <a:ext uri="{FF2B5EF4-FFF2-40B4-BE49-F238E27FC236}">
                <a16:creationId xmlns:a16="http://schemas.microsoft.com/office/drawing/2014/main" id="{3C5EB837-4460-BD0C-1EE8-D5FB08280DEF}"/>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170" name="Google Shape;170;p31">
            <a:extLst>
              <a:ext uri="{FF2B5EF4-FFF2-40B4-BE49-F238E27FC236}">
                <a16:creationId xmlns:a16="http://schemas.microsoft.com/office/drawing/2014/main" id="{D9AB136D-DD1C-7A87-8E0C-9E2E7F1A825D}"/>
              </a:ext>
            </a:extLst>
          </p:cNvPr>
          <p:cNvSpPr txBox="1">
            <a:spLocks noGrp="1"/>
          </p:cNvSpPr>
          <p:nvPr>
            <p:ph type="body" idx="1"/>
          </p:nvPr>
        </p:nvSpPr>
        <p:spPr>
          <a:xfrm>
            <a:off x="311700" y="1155675"/>
            <a:ext cx="8520600" cy="3895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MAX Server Memory</a:t>
            </a:r>
            <a:endParaRPr dirty="0"/>
          </a:p>
          <a:p>
            <a:pPr marL="0" indent="0">
              <a:spcBef>
                <a:spcPts val="1200"/>
              </a:spcBef>
              <a:buNone/>
            </a:pPr>
            <a:endParaRPr lang="en" u="sng" dirty="0">
              <a:solidFill>
                <a:schemeClr val="hlink"/>
              </a:solidFill>
            </a:endParaRPr>
          </a:p>
          <a:p>
            <a:pPr marL="0" lvl="0" indent="0" algn="l">
              <a:lnSpc>
                <a:spcPct val="114999"/>
              </a:lnSpc>
              <a:spcBef>
                <a:spcPts val="1200"/>
              </a:spcBef>
              <a:spcAft>
                <a:spcPts val="0"/>
              </a:spcAft>
              <a:buNone/>
            </a:pPr>
            <a:r>
              <a:rPr lang="en" u="sng" dirty="0">
                <a:solidFill>
                  <a:schemeClr val="hlink"/>
                </a:solidFill>
                <a:hlinkClick r:id="rId3">
                  <a:extLst>
                    <a:ext uri="{A12FA001-AC4F-418D-AE19-62706E023703}">
                      <ahyp:hlinkClr xmlns:ahyp="http://schemas.microsoft.com/office/drawing/2018/hyperlinkcolor" val="tx"/>
                    </a:ext>
                  </a:extLst>
                </a:hlinkClick>
              </a:rPr>
              <a:t>https://bit.ly/3Mv9csa</a:t>
            </a:r>
            <a:r>
              <a:rPr lang="en" dirty="0"/>
              <a:t>: Identifying-external-memory-pressure Jonathan </a:t>
            </a:r>
            <a:r>
              <a:rPr lang="en" err="1"/>
              <a:t>Kehayias</a:t>
            </a:r>
            <a:endParaRPr/>
          </a:p>
          <a:p>
            <a:pPr marL="0" lvl="0" indent="0" algn="l" rtl="0">
              <a:spcBef>
                <a:spcPts val="1200"/>
              </a:spcBef>
              <a:spcAft>
                <a:spcPts val="0"/>
              </a:spcAft>
              <a:buNone/>
            </a:pPr>
            <a:r>
              <a:rPr lang="en" dirty="0"/>
              <a:t>RESOURCE_MEM_PHYSICAL_LOW indicators in the ring buffer for Process (internal) and System(external) causes.</a:t>
            </a:r>
            <a:endParaRPr dirty="0"/>
          </a:p>
          <a:p>
            <a:pPr marL="0" lvl="0" indent="0" algn="l" rtl="0">
              <a:spcBef>
                <a:spcPts val="1200"/>
              </a:spcBef>
              <a:spcAft>
                <a:spcPts val="1200"/>
              </a:spcAft>
              <a:buNone/>
            </a:pPr>
            <a:endParaRPr/>
          </a:p>
        </p:txBody>
      </p:sp>
    </p:spTree>
    <p:extLst>
      <p:ext uri="{BB962C8B-B14F-4D97-AF65-F5344CB8AC3E}">
        <p14:creationId xmlns:p14="http://schemas.microsoft.com/office/powerpoint/2010/main" val="2079248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176" name="Google Shape;176;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MAX Server Memory</a:t>
            </a:r>
            <a:endParaRPr/>
          </a:p>
          <a:p>
            <a:pPr marL="0" lvl="0" indent="0" algn="l" rtl="0">
              <a:spcBef>
                <a:spcPts val="1200"/>
              </a:spcBef>
              <a:spcAft>
                <a:spcPts val="0"/>
              </a:spcAft>
              <a:buNone/>
            </a:pPr>
            <a:r>
              <a:rPr lang="en"/>
              <a:t>Installer now lets you set a more reasonable recommendation</a:t>
            </a: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pic>
        <p:nvPicPr>
          <p:cNvPr id="177" name="Google Shape;177;p32"/>
          <p:cNvPicPr preferRelativeResize="0"/>
          <p:nvPr/>
        </p:nvPicPr>
        <p:blipFill>
          <a:blip r:embed="rId3">
            <a:alphaModFix/>
          </a:blip>
          <a:stretch>
            <a:fillRect/>
          </a:stretch>
        </p:blipFill>
        <p:spPr>
          <a:xfrm>
            <a:off x="2045200" y="2012725"/>
            <a:ext cx="4549825" cy="292925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189" name="Google Shape;189;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MAX Server Memory</a:t>
            </a:r>
            <a:endParaRPr dirty="0"/>
          </a:p>
          <a:p>
            <a:pPr marL="0" lvl="0" indent="0" algn="l" rtl="0">
              <a:spcBef>
                <a:spcPts val="1200"/>
              </a:spcBef>
              <a:spcAft>
                <a:spcPts val="0"/>
              </a:spcAft>
              <a:buNone/>
            </a:pPr>
            <a:endParaRPr/>
          </a:p>
          <a:p>
            <a:pPr marL="0" indent="0">
              <a:lnSpc>
                <a:spcPct val="114999"/>
              </a:lnSpc>
              <a:spcBef>
                <a:spcPts val="1200"/>
              </a:spcBef>
              <a:buNone/>
            </a:pPr>
            <a:endParaRPr lang="en" dirty="0"/>
          </a:p>
          <a:p>
            <a:pPr marL="0" indent="0">
              <a:lnSpc>
                <a:spcPct val="114999"/>
              </a:lnSpc>
              <a:spcBef>
                <a:spcPts val="1200"/>
              </a:spcBef>
              <a:buNone/>
            </a:pPr>
            <a:r>
              <a:rPr lang="en" dirty="0"/>
              <a:t>What about your SQL Servers that are already installed?</a:t>
            </a:r>
          </a:p>
          <a:p>
            <a:pPr marL="0" lvl="0" indent="0" algn="l" rtl="0">
              <a:spcBef>
                <a:spcPts val="1200"/>
              </a:spcBef>
              <a:spcAft>
                <a:spcPts val="0"/>
              </a:spcAft>
              <a:buNone/>
            </a:pPr>
            <a:endParaRPr lang="en" dirty="0"/>
          </a:p>
          <a:p>
            <a:pPr marL="0" lvl="0" indent="0" algn="l" rtl="0">
              <a:spcBef>
                <a:spcPts val="1200"/>
              </a:spcBef>
              <a:spcAft>
                <a:spcPts val="120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621E004C-9E20-EC2E-F0C4-0A3A5A5F6245}"/>
            </a:ext>
          </a:extLst>
        </p:cNvPr>
        <p:cNvGrpSpPr/>
        <p:nvPr/>
      </p:nvGrpSpPr>
      <p:grpSpPr>
        <a:xfrm>
          <a:off x="0" y="0"/>
          <a:ext cx="0" cy="0"/>
          <a:chOff x="0" y="0"/>
          <a:chExt cx="0" cy="0"/>
        </a:xfrm>
      </p:grpSpPr>
      <p:sp>
        <p:nvSpPr>
          <p:cNvPr id="188" name="Google Shape;188;p34">
            <a:extLst>
              <a:ext uri="{FF2B5EF4-FFF2-40B4-BE49-F238E27FC236}">
                <a16:creationId xmlns:a16="http://schemas.microsoft.com/office/drawing/2014/main" id="{C85F70D3-5288-37D9-6A4C-0BB1C037BA8B}"/>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189" name="Google Shape;189;p34">
            <a:extLst>
              <a:ext uri="{FF2B5EF4-FFF2-40B4-BE49-F238E27FC236}">
                <a16:creationId xmlns:a16="http://schemas.microsoft.com/office/drawing/2014/main" id="{AE8AD1D7-D971-3EBF-0E40-28CF400C248E}"/>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MAX Server Memory</a:t>
            </a:r>
            <a:endParaRPr dirty="0"/>
          </a:p>
          <a:p>
            <a:pPr marL="0" lvl="0" indent="0" algn="l" rtl="0">
              <a:spcBef>
                <a:spcPts val="1200"/>
              </a:spcBef>
              <a:spcAft>
                <a:spcPts val="0"/>
              </a:spcAft>
              <a:buNone/>
            </a:pPr>
            <a:endParaRPr dirty="0"/>
          </a:p>
          <a:p>
            <a:pPr marL="0" lvl="0" indent="0" algn="l" rtl="0">
              <a:spcBef>
                <a:spcPts val="1200"/>
              </a:spcBef>
              <a:spcAft>
                <a:spcPts val="0"/>
              </a:spcAft>
              <a:buNone/>
            </a:pPr>
            <a:r>
              <a:rPr lang="en" dirty="0"/>
              <a:t>How to view current settings and the recommendation for Max Server Memory across your environment:</a:t>
            </a:r>
            <a:endParaRPr dirty="0"/>
          </a:p>
          <a:p>
            <a:pPr marL="0" indent="0">
              <a:lnSpc>
                <a:spcPct val="114999"/>
              </a:lnSpc>
              <a:spcBef>
                <a:spcPts val="1200"/>
              </a:spcBef>
              <a:buNone/>
            </a:pPr>
            <a:r>
              <a:rPr lang="en" dirty="0"/>
              <a:t>Based on Jonathan </a:t>
            </a:r>
            <a:r>
              <a:rPr lang="en" dirty="0" err="1"/>
              <a:t>Kehayias's</a:t>
            </a:r>
            <a:r>
              <a:rPr lang="en" dirty="0"/>
              <a:t> memory calculation methodology</a:t>
            </a:r>
          </a:p>
          <a:p>
            <a:pPr marL="0" lvl="0" indent="0" algn="l" rtl="0">
              <a:spcBef>
                <a:spcPts val="1200"/>
              </a:spcBef>
              <a:spcAft>
                <a:spcPts val="0"/>
              </a:spcAft>
              <a:buNone/>
            </a:pPr>
            <a:r>
              <a:rPr lang="en" dirty="0"/>
              <a:t>$</a:t>
            </a:r>
            <a:r>
              <a:rPr lang="en" dirty="0" err="1"/>
              <a:t>sqlinstances</a:t>
            </a:r>
            <a:r>
              <a:rPr lang="en" dirty="0"/>
              <a:t> = get-content -path “C:\</a:t>
            </a:r>
            <a:r>
              <a:rPr lang="en" dirty="0" err="1"/>
              <a:t>MyDocuments</a:t>
            </a:r>
            <a:r>
              <a:rPr lang="en" dirty="0"/>
              <a:t>\SQLServerList.txt”</a:t>
            </a:r>
            <a:endParaRPr dirty="0"/>
          </a:p>
          <a:p>
            <a:pPr marL="0" lvl="0" indent="0" algn="l" rtl="0">
              <a:spcBef>
                <a:spcPts val="1200"/>
              </a:spcBef>
              <a:spcAft>
                <a:spcPts val="0"/>
              </a:spcAft>
              <a:buNone/>
            </a:pPr>
            <a:r>
              <a:rPr lang="en" dirty="0"/>
              <a:t>$</a:t>
            </a:r>
            <a:r>
              <a:rPr lang="en" dirty="0" err="1"/>
              <a:t>sqlinstances</a:t>
            </a:r>
            <a:r>
              <a:rPr lang="en" dirty="0"/>
              <a:t> | test-</a:t>
            </a:r>
            <a:r>
              <a:rPr lang="en" dirty="0" err="1"/>
              <a:t>dbamaxmemory</a:t>
            </a:r>
            <a:endParaRPr dirty="0" err="1"/>
          </a:p>
          <a:p>
            <a:pPr marL="0" lvl="0" indent="0" algn="l" rtl="0">
              <a:spcBef>
                <a:spcPts val="1200"/>
              </a:spcBef>
              <a:spcAft>
                <a:spcPts val="1200"/>
              </a:spcAft>
              <a:buNone/>
            </a:pPr>
            <a:endParaRPr dirty="0"/>
          </a:p>
        </p:txBody>
      </p:sp>
    </p:spTree>
    <p:extLst>
      <p:ext uri="{BB962C8B-B14F-4D97-AF65-F5344CB8AC3E}">
        <p14:creationId xmlns:p14="http://schemas.microsoft.com/office/powerpoint/2010/main" val="22937940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195" name="Google Shape;195;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MAX Server Memory</a:t>
            </a:r>
            <a:endParaRPr/>
          </a:p>
          <a:p>
            <a:pPr marL="0" lvl="0" indent="0" algn="l" rtl="0">
              <a:spcBef>
                <a:spcPts val="1200"/>
              </a:spcBef>
              <a:spcAft>
                <a:spcPts val="0"/>
              </a:spcAft>
              <a:buNone/>
            </a:pPr>
            <a:endParaRPr/>
          </a:p>
          <a:p>
            <a:pPr marL="0" lvl="0" indent="0" algn="l" rtl="0">
              <a:spcBef>
                <a:spcPts val="1200"/>
              </a:spcBef>
              <a:spcAft>
                <a:spcPts val="0"/>
              </a:spcAft>
              <a:buNone/>
            </a:pPr>
            <a:r>
              <a:rPr lang="en"/>
              <a:t>How to set the Max Server Memory across your environment:</a:t>
            </a:r>
            <a:endParaRPr/>
          </a:p>
          <a:p>
            <a:pPr marL="0" lvl="0" indent="0" algn="l" rtl="0">
              <a:spcBef>
                <a:spcPts val="1200"/>
              </a:spcBef>
              <a:spcAft>
                <a:spcPts val="0"/>
              </a:spcAft>
              <a:buNone/>
            </a:pPr>
            <a:r>
              <a:rPr lang="en"/>
              <a:t>$sqlinstances = get-content -path “C:\MyDocuments\SQLServerList.txt”</a:t>
            </a:r>
            <a:endParaRPr/>
          </a:p>
          <a:p>
            <a:pPr marL="0" lvl="0" indent="0" algn="l" rtl="0">
              <a:spcBef>
                <a:spcPts val="1200"/>
              </a:spcBef>
              <a:spcAft>
                <a:spcPts val="0"/>
              </a:spcAft>
              <a:buNone/>
            </a:pPr>
            <a:r>
              <a:rPr lang="en"/>
              <a:t>$sqlinstances | set-dbamaxmemory</a:t>
            </a:r>
            <a:endParaRPr/>
          </a:p>
          <a:p>
            <a:pPr marL="0" lvl="0" indent="0" algn="l" rtl="0">
              <a:spcBef>
                <a:spcPts val="1200"/>
              </a:spcBef>
              <a:spcAft>
                <a:spcPts val="0"/>
              </a:spcAft>
              <a:buNone/>
            </a:pPr>
            <a:endParaRPr/>
          </a:p>
          <a:p>
            <a:pPr marL="0" lvl="0" indent="0" algn="l" rtl="0">
              <a:spcBef>
                <a:spcPts val="1200"/>
              </a:spcBef>
              <a:spcAft>
                <a:spcPts val="1200"/>
              </a:spcAft>
              <a:buNone/>
            </a:pPr>
            <a:r>
              <a:rPr lang="en"/>
              <a:t>This can also be done using Get-DbaRegServer</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Server Level Settings</a:t>
            </a:r>
            <a:endParaRPr/>
          </a:p>
        </p:txBody>
      </p:sp>
      <p:sp>
        <p:nvSpPr>
          <p:cNvPr id="201" name="Google Shape;201;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MAX Server Memory</a:t>
            </a:r>
            <a:endParaRPr/>
          </a:p>
          <a:p>
            <a:pPr marL="0" lvl="0" indent="0" algn="l" rtl="0">
              <a:spcBef>
                <a:spcPts val="1200"/>
              </a:spcBef>
              <a:spcAft>
                <a:spcPts val="0"/>
              </a:spcAft>
              <a:buNone/>
            </a:pPr>
            <a:endParaRPr/>
          </a:p>
          <a:p>
            <a:pPr marL="0" lvl="0" indent="0" algn="l" rtl="0">
              <a:spcBef>
                <a:spcPts val="1200"/>
              </a:spcBef>
              <a:spcAft>
                <a:spcPts val="0"/>
              </a:spcAft>
              <a:buNone/>
            </a:pPr>
            <a:r>
              <a:rPr lang="en"/>
              <a:t>Why memory is so critical to SQL Server performance:</a:t>
            </a:r>
            <a:endParaRPr/>
          </a:p>
          <a:p>
            <a:pPr marL="0" lvl="0" indent="0" algn="l" rtl="0">
              <a:spcBef>
                <a:spcPts val="1200"/>
              </a:spcBef>
              <a:spcAft>
                <a:spcPts val="0"/>
              </a:spcAft>
              <a:buNone/>
            </a:pPr>
            <a:r>
              <a:rPr lang="en"/>
              <a:t>Allocate too much and OS memory pressure happens</a:t>
            </a:r>
            <a:endParaRPr/>
          </a:p>
          <a:p>
            <a:pPr marL="0" lvl="0" indent="0" algn="l" rtl="0">
              <a:spcBef>
                <a:spcPts val="1200"/>
              </a:spcBef>
              <a:spcAft>
                <a:spcPts val="0"/>
              </a:spcAft>
              <a:buNone/>
            </a:pPr>
            <a:r>
              <a:rPr lang="en"/>
              <a:t>Allocate too little and you could strain storage and make queries slower</a:t>
            </a:r>
            <a:endParaRPr/>
          </a:p>
          <a:p>
            <a:pPr marL="0" lvl="0" indent="0" algn="l" rtl="0">
              <a:spcBef>
                <a:spcPts val="1200"/>
              </a:spcBef>
              <a:spcAft>
                <a:spcPts val="1200"/>
              </a:spcAft>
              <a:buNone/>
            </a:pPr>
            <a:r>
              <a:rPr lang="en"/>
              <a:t>Allocate too little and you could cause resource-semaphore waits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Buttons Levers and Dials</a:t>
            </a:r>
            <a:endParaRPr/>
          </a:p>
        </p:txBody>
      </p:sp>
      <p:sp>
        <p:nvSpPr>
          <p:cNvPr id="237" name="Google Shape;237;p4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ctr" rtl="0">
              <a:spcBef>
                <a:spcPts val="1200"/>
              </a:spcBef>
              <a:spcAft>
                <a:spcPts val="1200"/>
              </a:spcAft>
              <a:buNone/>
            </a:pPr>
            <a:r>
              <a:rPr lang="en"/>
              <a:t>Database Level Settings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11AAF7B4-F553-EB23-5152-5EA28DA647C0}"/>
            </a:ext>
          </a:extLst>
        </p:cNvPr>
        <p:cNvGrpSpPr/>
        <p:nvPr/>
      </p:nvGrpSpPr>
      <p:grpSpPr>
        <a:xfrm>
          <a:off x="0" y="0"/>
          <a:ext cx="0" cy="0"/>
          <a:chOff x="0" y="0"/>
          <a:chExt cx="0" cy="0"/>
        </a:xfrm>
      </p:grpSpPr>
      <p:sp>
        <p:nvSpPr>
          <p:cNvPr id="78" name="Google Shape;78;p17">
            <a:extLst>
              <a:ext uri="{FF2B5EF4-FFF2-40B4-BE49-F238E27FC236}">
                <a16:creationId xmlns:a16="http://schemas.microsoft.com/office/drawing/2014/main" id="{80AFFE84-9BA3-B5FB-37D1-709F36E82643}"/>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algn="ctr"/>
            <a:r>
              <a:rPr lang="en" dirty="0"/>
              <a:t>Database Level Settings</a:t>
            </a:r>
            <a:endParaRPr dirty="0"/>
          </a:p>
        </p:txBody>
      </p:sp>
      <p:sp>
        <p:nvSpPr>
          <p:cNvPr id="79" name="Google Shape;79;p17">
            <a:extLst>
              <a:ext uri="{FF2B5EF4-FFF2-40B4-BE49-F238E27FC236}">
                <a16:creationId xmlns:a16="http://schemas.microsoft.com/office/drawing/2014/main" id="{313D4436-2FFC-2F54-F044-340514C30449}"/>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indent="0" algn="ctr">
              <a:spcBef>
                <a:spcPts val="1200"/>
              </a:spcBef>
              <a:spcAft>
                <a:spcPts val="1200"/>
              </a:spcAft>
              <a:buNone/>
            </a:pPr>
            <a:r>
              <a:rPr lang="en" dirty="0"/>
              <a:t>QUERY STORE</a:t>
            </a:r>
          </a:p>
        </p:txBody>
      </p:sp>
    </p:spTree>
    <p:extLst>
      <p:ext uri="{BB962C8B-B14F-4D97-AF65-F5344CB8AC3E}">
        <p14:creationId xmlns:p14="http://schemas.microsoft.com/office/powerpoint/2010/main" val="917595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Database Level Settings</a:t>
            </a:r>
            <a:endParaRPr/>
          </a:p>
        </p:txBody>
      </p:sp>
      <p:sp>
        <p:nvSpPr>
          <p:cNvPr id="243" name="Google Shape;243;p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dirty="0"/>
              <a:t>Query Store</a:t>
            </a:r>
            <a:endParaRPr dirty="0"/>
          </a:p>
          <a:p>
            <a:pPr marL="0" lvl="0" indent="0" algn="l" rtl="0">
              <a:spcBef>
                <a:spcPts val="1200"/>
              </a:spcBef>
              <a:spcAft>
                <a:spcPts val="0"/>
              </a:spcAft>
              <a:buNone/>
            </a:pPr>
            <a:endParaRPr/>
          </a:p>
          <a:p>
            <a:pPr marL="0" lvl="0" indent="0" algn="l" rtl="0">
              <a:spcBef>
                <a:spcPts val="1200"/>
              </a:spcBef>
              <a:spcAft>
                <a:spcPts val="0"/>
              </a:spcAft>
              <a:buNone/>
            </a:pPr>
            <a:r>
              <a:rPr lang="en" dirty="0"/>
              <a:t>Stores query runtime performance from the perspective of </a:t>
            </a:r>
            <a:r>
              <a:rPr lang="en" dirty="0" err="1"/>
              <a:t>cpu</a:t>
            </a:r>
            <a:r>
              <a:rPr lang="en" dirty="0"/>
              <a:t>, duration, logical reads and other metrics</a:t>
            </a:r>
            <a:endParaRPr dirty="0"/>
          </a:p>
          <a:p>
            <a:pPr marL="0" indent="0">
              <a:lnSpc>
                <a:spcPct val="114999"/>
              </a:lnSpc>
              <a:spcBef>
                <a:spcPts val="1200"/>
              </a:spcBef>
              <a:buNone/>
            </a:pPr>
            <a:r>
              <a:rPr lang="en" dirty="0"/>
              <a:t>Captures execution plans</a:t>
            </a:r>
          </a:p>
          <a:p>
            <a:pPr marL="0" lvl="0" indent="0" algn="l" rtl="0">
              <a:spcBef>
                <a:spcPts val="1200"/>
              </a:spcBef>
              <a:spcAft>
                <a:spcPts val="0"/>
              </a:spcAft>
              <a:buNone/>
            </a:pPr>
            <a:r>
              <a:rPr lang="en" dirty="0"/>
              <a:t>Wait Stats information is available in SQL Server 2017 and above</a:t>
            </a:r>
            <a:endParaRPr dirty="0"/>
          </a:p>
          <a:p>
            <a:pPr marL="0" lvl="0" indent="0" algn="l" rtl="0">
              <a:spcBef>
                <a:spcPts val="1200"/>
              </a:spcBef>
              <a:spcAft>
                <a:spcPts val="1200"/>
              </a:spcAft>
              <a:buNone/>
            </a:pPr>
            <a:r>
              <a:rPr lang="en" dirty="0"/>
              <a:t>Custom Capture Policies in 2019 allow for more control over what/how much is captured</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Database Level Settings</a:t>
            </a:r>
            <a:endParaRPr/>
          </a:p>
        </p:txBody>
      </p:sp>
      <p:sp>
        <p:nvSpPr>
          <p:cNvPr id="249" name="Google Shape;249;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Query Store</a:t>
            </a:r>
            <a:endParaRPr/>
          </a:p>
          <a:p>
            <a:pPr marL="0" lvl="0" indent="0" algn="l" rtl="0">
              <a:spcBef>
                <a:spcPts val="1200"/>
              </a:spcBef>
              <a:spcAft>
                <a:spcPts val="0"/>
              </a:spcAft>
              <a:buNone/>
            </a:pPr>
            <a:endParaRPr/>
          </a:p>
          <a:p>
            <a:pPr marL="0" lvl="0" indent="0" algn="l" rtl="0">
              <a:spcBef>
                <a:spcPts val="1200"/>
              </a:spcBef>
              <a:spcAft>
                <a:spcPts val="0"/>
              </a:spcAft>
              <a:buNone/>
            </a:pPr>
            <a:r>
              <a:rPr lang="en"/>
              <a:t>In SQL Server 2022, can apply query hints without changing the code</a:t>
            </a:r>
            <a:endParaRPr/>
          </a:p>
          <a:p>
            <a:pPr marL="0" lvl="0" indent="0" algn="l" rtl="0">
              <a:spcBef>
                <a:spcPts val="1200"/>
              </a:spcBef>
              <a:spcAft>
                <a:spcPts val="0"/>
              </a:spcAft>
              <a:buNone/>
            </a:pPr>
            <a:r>
              <a:rPr lang="en"/>
              <a:t>Allows you to detect regression and force “good query plans”</a:t>
            </a:r>
            <a:endParaRPr/>
          </a:p>
          <a:p>
            <a:pPr marL="0" lvl="0" indent="0" algn="l" rtl="0">
              <a:spcBef>
                <a:spcPts val="1200"/>
              </a:spcBef>
              <a:spcAft>
                <a:spcPts val="1200"/>
              </a:spcAft>
              <a:buNone/>
            </a:pPr>
            <a:r>
              <a:rPr lang="en"/>
              <a:t>Involved in IQP features: DOP Feedback, Memory Grant Feedback, and others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Database Level Settings</a:t>
            </a:r>
            <a:endParaRPr/>
          </a:p>
        </p:txBody>
      </p:sp>
      <p:sp>
        <p:nvSpPr>
          <p:cNvPr id="279" name="Google Shape;279;p4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Query Store</a:t>
            </a:r>
            <a:endParaRPr dirty="0"/>
          </a:p>
          <a:p>
            <a:pPr marL="0" lvl="0" indent="0" algn="l" rtl="0">
              <a:spcBef>
                <a:spcPts val="1200"/>
              </a:spcBef>
              <a:spcAft>
                <a:spcPts val="0"/>
              </a:spcAft>
              <a:buNone/>
            </a:pPr>
            <a:endParaRPr/>
          </a:p>
          <a:p>
            <a:pPr marL="0" lvl="0" indent="0" algn="l" rtl="0">
              <a:spcBef>
                <a:spcPts val="1200"/>
              </a:spcBef>
              <a:spcAft>
                <a:spcPts val="0"/>
              </a:spcAft>
              <a:buNone/>
            </a:pPr>
            <a:r>
              <a:rPr lang="en" dirty="0" err="1"/>
              <a:t>Query_Store_Capture_Mode</a:t>
            </a:r>
            <a:r>
              <a:rPr lang="en" dirty="0"/>
              <a:t>: Determines the behavior Query Store uses to capture queries.</a:t>
            </a:r>
            <a:endParaRPr dirty="0"/>
          </a:p>
          <a:p>
            <a:pPr marL="0" indent="0">
              <a:spcBef>
                <a:spcPts val="1200"/>
              </a:spcBef>
              <a:buNone/>
            </a:pPr>
            <a:r>
              <a:rPr lang="en" dirty="0"/>
              <a:t>Default is ALL for 2016/2017(change this to auto!!)</a:t>
            </a:r>
          </a:p>
          <a:p>
            <a:pPr marL="0" indent="0">
              <a:lnSpc>
                <a:spcPct val="114999"/>
              </a:lnSpc>
              <a:spcBef>
                <a:spcPts val="1200"/>
              </a:spcBef>
              <a:buNone/>
            </a:pPr>
            <a:r>
              <a:rPr lang="en" dirty="0"/>
              <a:t>Auto is default in 2019 and higher</a:t>
            </a:r>
          </a:p>
          <a:p>
            <a:pPr marL="0" indent="0">
              <a:lnSpc>
                <a:spcPct val="114999"/>
              </a:lnSpc>
              <a:spcBef>
                <a:spcPts val="1200"/>
              </a:spcBef>
              <a:buNone/>
            </a:pPr>
            <a:r>
              <a:rPr lang="en" dirty="0"/>
              <a:t>Custom Mode available in 2019.</a:t>
            </a:r>
            <a:endParaRPr dirty="0"/>
          </a:p>
          <a:p>
            <a:pPr marL="0" indent="0">
              <a:lnSpc>
                <a:spcPct val="90000"/>
              </a:lnSpc>
              <a:spcBef>
                <a:spcPts val="1200"/>
              </a:spcBef>
              <a:buNone/>
            </a:pPr>
            <a:endParaRPr>
              <a:solidFill>
                <a:srgbClr val="000000"/>
              </a:solidFill>
            </a:endParaRPr>
          </a:p>
          <a:p>
            <a:pPr marL="0" indent="0">
              <a:spcAft>
                <a:spcPts val="1200"/>
              </a:spcAft>
              <a:buNone/>
            </a:pP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7">
          <a:extLst>
            <a:ext uri="{FF2B5EF4-FFF2-40B4-BE49-F238E27FC236}">
              <a16:creationId xmlns:a16="http://schemas.microsoft.com/office/drawing/2014/main" id="{6BBE23B6-DE9E-F286-8F20-5AF4FFA1C526}"/>
            </a:ext>
          </a:extLst>
        </p:cNvPr>
        <p:cNvGrpSpPr/>
        <p:nvPr/>
      </p:nvGrpSpPr>
      <p:grpSpPr>
        <a:xfrm>
          <a:off x="0" y="0"/>
          <a:ext cx="0" cy="0"/>
          <a:chOff x="0" y="0"/>
          <a:chExt cx="0" cy="0"/>
        </a:xfrm>
      </p:grpSpPr>
      <p:sp>
        <p:nvSpPr>
          <p:cNvPr id="278" name="Google Shape;278;p49">
            <a:extLst>
              <a:ext uri="{FF2B5EF4-FFF2-40B4-BE49-F238E27FC236}">
                <a16:creationId xmlns:a16="http://schemas.microsoft.com/office/drawing/2014/main" id="{47725BDF-570A-451D-972F-9558A1E248FB}"/>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Database Level Settings</a:t>
            </a:r>
            <a:endParaRPr/>
          </a:p>
        </p:txBody>
      </p:sp>
      <p:sp>
        <p:nvSpPr>
          <p:cNvPr id="279" name="Google Shape;279;p49">
            <a:extLst>
              <a:ext uri="{FF2B5EF4-FFF2-40B4-BE49-F238E27FC236}">
                <a16:creationId xmlns:a16="http://schemas.microsoft.com/office/drawing/2014/main" id="{E10839E6-5A94-1F86-3AEA-D17957153EAE}"/>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Query Store</a:t>
            </a:r>
            <a:endParaRPr dirty="0"/>
          </a:p>
          <a:p>
            <a:pPr marL="0" lvl="0" indent="0" algn="l" rtl="0">
              <a:spcBef>
                <a:spcPts val="1200"/>
              </a:spcBef>
              <a:spcAft>
                <a:spcPts val="0"/>
              </a:spcAft>
              <a:buNone/>
            </a:pPr>
            <a:endParaRPr/>
          </a:p>
          <a:p>
            <a:pPr marL="0" indent="0">
              <a:lnSpc>
                <a:spcPct val="114999"/>
              </a:lnSpc>
              <a:spcBef>
                <a:spcPts val="1200"/>
              </a:spcBef>
              <a:buNone/>
            </a:pPr>
            <a:r>
              <a:rPr lang="en" dirty="0" err="1">
                <a:solidFill>
                  <a:srgbClr val="595959"/>
                </a:solidFill>
              </a:rPr>
              <a:t>Max_Storage_Size_MB</a:t>
            </a:r>
            <a:r>
              <a:rPr lang="en" dirty="0">
                <a:solidFill>
                  <a:srgbClr val="595959"/>
                </a:solidFill>
              </a:rPr>
              <a:t>: The largest size query store can grow to on disk. Defaults are too small for most scenarios(100 MB in 2016/17, 1000 MB in 2019)</a:t>
            </a:r>
            <a:endParaRPr lang="en" dirty="0"/>
          </a:p>
          <a:p>
            <a:pPr marL="0" lvl="0" indent="0" algn="l">
              <a:lnSpc>
                <a:spcPct val="114999"/>
              </a:lnSpc>
              <a:spcBef>
                <a:spcPts val="1200"/>
              </a:spcBef>
              <a:buNone/>
            </a:pPr>
            <a:endParaRPr lang="en" dirty="0">
              <a:solidFill>
                <a:srgbClr val="595959"/>
              </a:solidFill>
            </a:endParaRPr>
          </a:p>
          <a:p>
            <a:pPr marL="0" indent="0">
              <a:lnSpc>
                <a:spcPct val="114999"/>
              </a:lnSpc>
              <a:spcBef>
                <a:spcPts val="1200"/>
              </a:spcBef>
              <a:buNone/>
            </a:pPr>
            <a:r>
              <a:rPr lang="en" dirty="0">
                <a:solidFill>
                  <a:srgbClr val="595959"/>
                </a:solidFill>
              </a:rPr>
              <a:t>This setting will trigger auto-cleanup of old data once a certain free space threshold is reached.</a:t>
            </a:r>
          </a:p>
          <a:p>
            <a:pPr marL="0" indent="0">
              <a:lnSpc>
                <a:spcPct val="90000"/>
              </a:lnSpc>
              <a:spcBef>
                <a:spcPts val="1200"/>
              </a:spcBef>
              <a:buNone/>
            </a:pPr>
            <a:endParaRPr lang="en-US">
              <a:solidFill>
                <a:srgbClr val="000000"/>
              </a:solidFill>
            </a:endParaRPr>
          </a:p>
          <a:p>
            <a:pPr marL="0" indent="0">
              <a:spcAft>
                <a:spcPts val="1200"/>
              </a:spcAft>
              <a:buNone/>
            </a:pPr>
            <a:endParaRPr lang="en-US"/>
          </a:p>
        </p:txBody>
      </p:sp>
    </p:spTree>
    <p:extLst>
      <p:ext uri="{BB962C8B-B14F-4D97-AF65-F5344CB8AC3E}">
        <p14:creationId xmlns:p14="http://schemas.microsoft.com/office/powerpoint/2010/main" val="346553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E070ADEA-F285-66C9-7143-BD6C0F296213}"/>
            </a:ext>
          </a:extLst>
        </p:cNvPr>
        <p:cNvGrpSpPr/>
        <p:nvPr/>
      </p:nvGrpSpPr>
      <p:grpSpPr>
        <a:xfrm>
          <a:off x="0" y="0"/>
          <a:ext cx="0" cy="0"/>
          <a:chOff x="0" y="0"/>
          <a:chExt cx="0" cy="0"/>
        </a:xfrm>
      </p:grpSpPr>
      <p:sp>
        <p:nvSpPr>
          <p:cNvPr id="78" name="Google Shape;78;p17">
            <a:extLst>
              <a:ext uri="{FF2B5EF4-FFF2-40B4-BE49-F238E27FC236}">
                <a16:creationId xmlns:a16="http://schemas.microsoft.com/office/drawing/2014/main" id="{F2F5C1A9-8817-6798-5D23-3FB424DBCE5D}"/>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algn="ctr"/>
            <a:r>
              <a:rPr lang="en" dirty="0"/>
              <a:t>Database Level Settings</a:t>
            </a:r>
            <a:endParaRPr dirty="0"/>
          </a:p>
        </p:txBody>
      </p:sp>
      <p:sp>
        <p:nvSpPr>
          <p:cNvPr id="79" name="Google Shape;79;p17">
            <a:extLst>
              <a:ext uri="{FF2B5EF4-FFF2-40B4-BE49-F238E27FC236}">
                <a16:creationId xmlns:a16="http://schemas.microsoft.com/office/drawing/2014/main" id="{16D4A4DC-E473-1F6A-98B1-FF0A59F835B6}"/>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indent="0" algn="ctr">
              <a:spcBef>
                <a:spcPts val="1200"/>
              </a:spcBef>
              <a:spcAft>
                <a:spcPts val="1200"/>
              </a:spcAft>
              <a:buNone/>
            </a:pPr>
            <a:r>
              <a:rPr lang="en" dirty="0"/>
              <a:t>COMPATIBILITY LEVEL/LEGACY CARDINALITY ESTIMATION</a:t>
            </a:r>
          </a:p>
        </p:txBody>
      </p:sp>
    </p:spTree>
    <p:extLst>
      <p:ext uri="{BB962C8B-B14F-4D97-AF65-F5344CB8AC3E}">
        <p14:creationId xmlns:p14="http://schemas.microsoft.com/office/powerpoint/2010/main" val="2513747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Database Level Settings</a:t>
            </a:r>
            <a:endParaRPr/>
          </a:p>
        </p:txBody>
      </p:sp>
      <p:sp>
        <p:nvSpPr>
          <p:cNvPr id="285" name="Google Shape;285;p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Compat Level/Legacy Cardinality Estimation</a:t>
            </a:r>
            <a:endParaRPr dirty="0"/>
          </a:p>
          <a:p>
            <a:pPr marL="0" lvl="0" indent="0" algn="l" rtl="0">
              <a:spcBef>
                <a:spcPts val="1200"/>
              </a:spcBef>
              <a:spcAft>
                <a:spcPts val="0"/>
              </a:spcAft>
              <a:buNone/>
            </a:pPr>
            <a:endParaRPr/>
          </a:p>
          <a:p>
            <a:pPr marL="0" indent="0">
              <a:spcBef>
                <a:spcPts val="1200"/>
              </a:spcBef>
              <a:spcAft>
                <a:spcPts val="1200"/>
              </a:spcAft>
              <a:buNone/>
            </a:pPr>
            <a:r>
              <a:rPr lang="en" dirty="0"/>
              <a:t>Compatibility Level controls the feature set the database uses. For example, what T-SQL features are available to use, what trace flags, query optimization, and processing features are accessible.</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Database Level Settings</a:t>
            </a:r>
            <a:endParaRPr/>
          </a:p>
        </p:txBody>
      </p:sp>
      <p:sp>
        <p:nvSpPr>
          <p:cNvPr id="291" name="Google Shape;291;p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Compat Level/Legacy Cardinality Estimation</a:t>
            </a:r>
            <a:endParaRPr/>
          </a:p>
          <a:p>
            <a:pPr marL="0" lvl="0" indent="0" algn="l" rtl="0">
              <a:lnSpc>
                <a:spcPct val="90000"/>
              </a:lnSpc>
              <a:spcBef>
                <a:spcPts val="1200"/>
              </a:spcBef>
              <a:spcAft>
                <a:spcPts val="0"/>
              </a:spcAft>
              <a:buNone/>
            </a:pPr>
            <a:r>
              <a:rPr lang="en" u="sng">
                <a:solidFill>
                  <a:srgbClr val="0563C1"/>
                </a:solidFill>
                <a:hlinkClick r:id="rId3">
                  <a:extLst>
                    <a:ext uri="{A12FA001-AC4F-418D-AE19-62706E023703}">
                      <ahyp:hlinkClr xmlns:ahyp="http://schemas.microsoft.com/office/drawing/2018/hyperlinkcolor" val="tx"/>
                    </a:ext>
                  </a:extLst>
                </a:hlinkClick>
              </a:rPr>
              <a:t>https://bit.ly/3C0Zn1B</a:t>
            </a:r>
            <a:r>
              <a:rPr lang="en" sz="1200"/>
              <a:t> </a:t>
            </a:r>
            <a:r>
              <a:rPr lang="en"/>
              <a:t>IQP Summary MS Learn. Certain compat levels are needed </a:t>
            </a:r>
            <a:endParaRPr/>
          </a:p>
          <a:p>
            <a:pPr marL="0" lvl="0" indent="0" algn="l" rtl="0">
              <a:lnSpc>
                <a:spcPct val="90000"/>
              </a:lnSpc>
              <a:spcBef>
                <a:spcPts val="0"/>
              </a:spcBef>
              <a:spcAft>
                <a:spcPts val="0"/>
              </a:spcAft>
              <a:buNone/>
            </a:pPr>
            <a:endParaRPr/>
          </a:p>
          <a:p>
            <a:pPr marL="0" lvl="0" indent="0" algn="l" rtl="0">
              <a:lnSpc>
                <a:spcPct val="90000"/>
              </a:lnSpc>
              <a:spcBef>
                <a:spcPts val="0"/>
              </a:spcBef>
              <a:spcAft>
                <a:spcPts val="0"/>
              </a:spcAft>
              <a:buClr>
                <a:schemeClr val="dk1"/>
              </a:buClr>
              <a:buSzPts val="2400"/>
              <a:buFont typeface="Arial"/>
              <a:buNone/>
            </a:pPr>
            <a:endParaRPr/>
          </a:p>
        </p:txBody>
      </p:sp>
      <p:pic>
        <p:nvPicPr>
          <p:cNvPr id="292" name="Google Shape;292;p51"/>
          <p:cNvPicPr preferRelativeResize="0"/>
          <p:nvPr/>
        </p:nvPicPr>
        <p:blipFill rotWithShape="1">
          <a:blip r:embed="rId4">
            <a:alphaModFix/>
          </a:blip>
          <a:srcRect/>
          <a:stretch/>
        </p:blipFill>
        <p:spPr>
          <a:xfrm>
            <a:off x="650150" y="2036175"/>
            <a:ext cx="7479650" cy="307335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Database Level Settings</a:t>
            </a:r>
            <a:endParaRPr/>
          </a:p>
        </p:txBody>
      </p:sp>
      <p:sp>
        <p:nvSpPr>
          <p:cNvPr id="298" name="Google Shape;298;p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Compat Level/Legacy Cardinality Estimation</a:t>
            </a:r>
            <a:endParaRPr/>
          </a:p>
          <a:p>
            <a:pPr marL="0" lvl="0" indent="0" algn="l" rtl="0">
              <a:spcBef>
                <a:spcPts val="1200"/>
              </a:spcBef>
              <a:spcAft>
                <a:spcPts val="0"/>
              </a:spcAft>
              <a:buNone/>
            </a:pPr>
            <a:endParaRPr/>
          </a:p>
          <a:p>
            <a:pPr marL="0" lvl="0" indent="0" algn="l" rtl="0">
              <a:spcBef>
                <a:spcPts val="1200"/>
              </a:spcBef>
              <a:spcAft>
                <a:spcPts val="0"/>
              </a:spcAft>
              <a:buNone/>
            </a:pPr>
            <a:r>
              <a:rPr lang="en"/>
              <a:t>The Cardinality Estimator controls the logic the engine uses to create query plans. </a:t>
            </a:r>
            <a:endParaRPr/>
          </a:p>
          <a:p>
            <a:pPr marL="0" lvl="0" indent="0" algn="l" rtl="0">
              <a:spcBef>
                <a:spcPts val="1200"/>
              </a:spcBef>
              <a:spcAft>
                <a:spcPts val="0"/>
              </a:spcAft>
              <a:buNone/>
            </a:pPr>
            <a:endParaRPr/>
          </a:p>
          <a:p>
            <a:pPr marL="0" lvl="0" indent="0" algn="l" rtl="0">
              <a:spcBef>
                <a:spcPts val="1200"/>
              </a:spcBef>
              <a:spcAft>
                <a:spcPts val="1200"/>
              </a:spcAft>
              <a:buNone/>
            </a:pPr>
            <a:r>
              <a:rPr lang="en"/>
              <a:t>Why does this matter? Anyone remember what happened in 2014?</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Database Level Settings</a:t>
            </a:r>
            <a:endParaRPr/>
          </a:p>
        </p:txBody>
      </p:sp>
      <p:sp>
        <p:nvSpPr>
          <p:cNvPr id="304" name="Google Shape;304;p5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Compat Level/Legacy Cardinality Estimation</a:t>
            </a:r>
            <a:endParaRPr/>
          </a:p>
          <a:p>
            <a:pPr marL="0" lvl="0" indent="0" algn="l" rtl="0">
              <a:spcBef>
                <a:spcPts val="1200"/>
              </a:spcBef>
              <a:spcAft>
                <a:spcPts val="0"/>
              </a:spcAft>
              <a:buNone/>
            </a:pPr>
            <a:endParaRPr/>
          </a:p>
          <a:p>
            <a:pPr marL="0" lvl="0" indent="0" algn="l" rtl="0">
              <a:spcBef>
                <a:spcPts val="1200"/>
              </a:spcBef>
              <a:spcAft>
                <a:spcPts val="0"/>
              </a:spcAft>
              <a:buNone/>
            </a:pPr>
            <a:r>
              <a:rPr lang="en"/>
              <a:t>SQL Server 2016 introduced database scoped configurations. One of those was Legacy Cardinality Estimation so workloads would have their query plans created in the same way as before, even on newer compat levels. </a:t>
            </a:r>
            <a:endParaRPr/>
          </a:p>
          <a:p>
            <a:pPr marL="0" lvl="0" indent="0" algn="l" rtl="0">
              <a:spcBef>
                <a:spcPts val="1200"/>
              </a:spcBef>
              <a:spcAft>
                <a:spcPts val="0"/>
              </a:spcAft>
              <a:buNone/>
            </a:pPr>
            <a:endParaRPr/>
          </a:p>
          <a:p>
            <a:pPr marL="0" lvl="0" indent="0" algn="l" rtl="0">
              <a:spcBef>
                <a:spcPts val="1200"/>
              </a:spcBef>
              <a:spcAft>
                <a:spcPts val="1200"/>
              </a:spcAft>
              <a:buNone/>
            </a:pPr>
            <a:r>
              <a:rPr lang="en"/>
              <a:t>Use this setting when migrating older databases to newer versions of SQL Server</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6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Database Level Settings</a:t>
            </a:r>
            <a:endParaRPr/>
          </a:p>
        </p:txBody>
      </p:sp>
      <p:sp>
        <p:nvSpPr>
          <p:cNvPr id="348" name="Google Shape;348;p60"/>
          <p:cNvSpPr txBox="1">
            <a:spLocks noGrp="1"/>
          </p:cNvSpPr>
          <p:nvPr>
            <p:ph type="body" idx="1"/>
          </p:nvPr>
        </p:nvSpPr>
        <p:spPr>
          <a:xfrm>
            <a:off x="311700" y="1152475"/>
            <a:ext cx="8520600" cy="37710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
              <a:t>sys.database_scoped_configurations</a:t>
            </a:r>
            <a:endParaRPr/>
          </a:p>
          <a:p>
            <a:pPr marL="0" lvl="0" indent="0" algn="l" rtl="0">
              <a:spcBef>
                <a:spcPts val="1200"/>
              </a:spcBef>
              <a:spcAft>
                <a:spcPts val="0"/>
              </a:spcAft>
              <a:buNone/>
            </a:pPr>
            <a:endParaRPr/>
          </a:p>
          <a:p>
            <a:pPr marL="0" lvl="0" indent="0" algn="l" rtl="0">
              <a:spcBef>
                <a:spcPts val="1200"/>
              </a:spcBef>
              <a:spcAft>
                <a:spcPts val="0"/>
              </a:spcAft>
              <a:buNone/>
            </a:pPr>
            <a:r>
              <a:rPr lang="en"/>
              <a:t>What are they?</a:t>
            </a:r>
            <a:endParaRPr/>
          </a:p>
          <a:p>
            <a:pPr marL="0" lvl="0" indent="0" algn="l" rtl="0">
              <a:spcBef>
                <a:spcPts val="1200"/>
              </a:spcBef>
              <a:spcAft>
                <a:spcPts val="0"/>
              </a:spcAft>
              <a:buNone/>
            </a:pPr>
            <a:endParaRPr/>
          </a:p>
          <a:p>
            <a:pPr marL="0" lvl="0" indent="0" algn="l" rtl="0">
              <a:spcBef>
                <a:spcPts val="1200"/>
              </a:spcBef>
              <a:spcAft>
                <a:spcPts val="0"/>
              </a:spcAft>
              <a:buNone/>
            </a:pPr>
            <a:r>
              <a:rPr lang="en"/>
              <a:t>How can you see what the options are?</a:t>
            </a:r>
            <a:endParaRPr/>
          </a:p>
          <a:p>
            <a:pPr marL="0" lvl="0" indent="0" algn="l" rtl="0">
              <a:spcBef>
                <a:spcPts val="1200"/>
              </a:spcBef>
              <a:spcAft>
                <a:spcPts val="0"/>
              </a:spcAft>
              <a:buClr>
                <a:schemeClr val="dk1"/>
              </a:buClr>
              <a:buSzPts val="1100"/>
              <a:buFont typeface="Arial"/>
              <a:buNone/>
            </a:pPr>
            <a:r>
              <a:rPr lang="en"/>
              <a:t>SELECT configuration_id, name, value, value_for_secondary</a:t>
            </a:r>
            <a:endParaRPr/>
          </a:p>
          <a:p>
            <a:pPr marL="0" lvl="0" indent="0" algn="l" rtl="0">
              <a:spcBef>
                <a:spcPts val="1200"/>
              </a:spcBef>
              <a:spcAft>
                <a:spcPts val="0"/>
              </a:spcAft>
              <a:buNone/>
            </a:pPr>
            <a:r>
              <a:rPr lang="en"/>
              <a:t>FROM sys.database_scoped_configurations;</a:t>
            </a: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6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Database Level Settings</a:t>
            </a:r>
            <a:endParaRPr/>
          </a:p>
        </p:txBody>
      </p:sp>
      <p:sp>
        <p:nvSpPr>
          <p:cNvPr id="354" name="Google Shape;354;p61"/>
          <p:cNvSpPr txBox="1">
            <a:spLocks noGrp="1"/>
          </p:cNvSpPr>
          <p:nvPr>
            <p:ph type="body" idx="1"/>
          </p:nvPr>
        </p:nvSpPr>
        <p:spPr>
          <a:xfrm>
            <a:off x="311700" y="1152475"/>
            <a:ext cx="8520600" cy="3771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err="1"/>
              <a:t>sys.database_scoped_configurations</a:t>
            </a:r>
            <a:endParaRPr dirty="0" err="1"/>
          </a:p>
          <a:p>
            <a:pPr marL="0" lvl="0" indent="0" algn="l" rtl="0">
              <a:spcBef>
                <a:spcPts val="1200"/>
              </a:spcBef>
              <a:spcAft>
                <a:spcPts val="0"/>
              </a:spcAft>
              <a:buNone/>
            </a:pPr>
            <a:endParaRPr/>
          </a:p>
          <a:p>
            <a:pPr marL="0" lvl="0" indent="0" algn="l" rtl="0">
              <a:spcBef>
                <a:spcPts val="1200"/>
              </a:spcBef>
              <a:spcAft>
                <a:spcPts val="0"/>
              </a:spcAft>
              <a:buClr>
                <a:schemeClr val="dk1"/>
              </a:buClr>
              <a:buSzPts val="1100"/>
              <a:buFont typeface="Arial"/>
              <a:buNone/>
            </a:pPr>
            <a:r>
              <a:rPr lang="en" dirty="0"/>
              <a:t>LEGACY_CARDINALITY_ESTIMATION:</a:t>
            </a:r>
            <a:endParaRPr dirty="0"/>
          </a:p>
          <a:p>
            <a:pPr marL="0" lvl="0" indent="0" algn="l" rtl="0">
              <a:spcBef>
                <a:spcPts val="1200"/>
              </a:spcBef>
              <a:spcAft>
                <a:spcPts val="0"/>
              </a:spcAft>
              <a:buClr>
                <a:schemeClr val="dk1"/>
              </a:buClr>
              <a:buSzPts val="1100"/>
              <a:buFont typeface="Arial"/>
              <a:buNone/>
            </a:pPr>
            <a:r>
              <a:rPr lang="en" dirty="0"/>
              <a:t>DOP_FEEDBACK:</a:t>
            </a:r>
            <a:endParaRPr dirty="0"/>
          </a:p>
          <a:p>
            <a:pPr marL="0" indent="0">
              <a:spcBef>
                <a:spcPts val="1200"/>
              </a:spcBef>
              <a:buClr>
                <a:schemeClr val="dk1"/>
              </a:buClr>
              <a:buSzPts val="1100"/>
              <a:buNone/>
            </a:pPr>
            <a:r>
              <a:rPr lang="en" dirty="0"/>
              <a:t>MEMORY_GRANT_FEEDBACK:</a:t>
            </a:r>
          </a:p>
          <a:p>
            <a:pPr marL="0" lvl="0" indent="0" algn="l">
              <a:lnSpc>
                <a:spcPct val="114999"/>
              </a:lnSpc>
              <a:spcBef>
                <a:spcPts val="1200"/>
              </a:spcBef>
              <a:spcAft>
                <a:spcPts val="0"/>
              </a:spcAft>
              <a:buSzPts val="1100"/>
              <a:buFont typeface="Arial"/>
              <a:buNone/>
            </a:pPr>
            <a:r>
              <a:rPr lang="en" dirty="0"/>
              <a:t>CE_FEEDBACK:</a:t>
            </a:r>
            <a:endParaRPr dirty="0"/>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6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Database Level Settings</a:t>
            </a:r>
            <a:endParaRPr/>
          </a:p>
        </p:txBody>
      </p:sp>
      <p:sp>
        <p:nvSpPr>
          <p:cNvPr id="360" name="Google Shape;360;p62"/>
          <p:cNvSpPr txBox="1">
            <a:spLocks noGrp="1"/>
          </p:cNvSpPr>
          <p:nvPr>
            <p:ph type="body" idx="1"/>
          </p:nvPr>
        </p:nvSpPr>
        <p:spPr>
          <a:xfrm>
            <a:off x="311700" y="1152475"/>
            <a:ext cx="8520600" cy="3771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sys.database_scoped_configurations</a:t>
            </a:r>
            <a:endParaRPr/>
          </a:p>
          <a:p>
            <a:pPr marL="0" lvl="0" indent="0" algn="l" rtl="0">
              <a:spcBef>
                <a:spcPts val="1200"/>
              </a:spcBef>
              <a:spcAft>
                <a:spcPts val="0"/>
              </a:spcAft>
              <a:buNone/>
            </a:pPr>
            <a:endParaRPr/>
          </a:p>
          <a:p>
            <a:pPr marL="0" lvl="0" indent="0" algn="l" rtl="0">
              <a:spcBef>
                <a:spcPts val="1200"/>
              </a:spcBef>
              <a:spcAft>
                <a:spcPts val="0"/>
              </a:spcAft>
              <a:buNone/>
            </a:pPr>
            <a:r>
              <a:rPr lang="en"/>
              <a:t>LIGHTWEIGHT_QUERY_PROFILING:</a:t>
            </a:r>
            <a:endParaRPr/>
          </a:p>
          <a:p>
            <a:pPr marL="0" lvl="0" indent="0" algn="l" rtl="0">
              <a:spcBef>
                <a:spcPts val="1200"/>
              </a:spcBef>
              <a:spcAft>
                <a:spcPts val="0"/>
              </a:spcAft>
              <a:buNone/>
            </a:pPr>
            <a:r>
              <a:rPr lang="en"/>
              <a:t>LAST_QUERY_PLAN_STATS:</a:t>
            </a:r>
            <a:endParaRPr/>
          </a:p>
          <a:p>
            <a:pPr marL="0" lvl="0" indent="0" algn="l" rtl="0">
              <a:spcBef>
                <a:spcPts val="1200"/>
              </a:spcBef>
              <a:spcAft>
                <a:spcPts val="0"/>
              </a:spcAft>
              <a:buNone/>
            </a:pPr>
            <a:r>
              <a:rPr lang="en"/>
              <a:t>ELEVATE_ONLINE:</a:t>
            </a: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6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Database Level Settings</a:t>
            </a:r>
            <a:endParaRPr/>
          </a:p>
        </p:txBody>
      </p:sp>
      <p:sp>
        <p:nvSpPr>
          <p:cNvPr id="366" name="Google Shape;366;p63"/>
          <p:cNvSpPr txBox="1">
            <a:spLocks noGrp="1"/>
          </p:cNvSpPr>
          <p:nvPr>
            <p:ph type="body" idx="1"/>
          </p:nvPr>
        </p:nvSpPr>
        <p:spPr>
          <a:xfrm>
            <a:off x="311700" y="1152475"/>
            <a:ext cx="8520600" cy="39909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sz="2550"/>
              <a:t>sys.database_scoped_configurations</a:t>
            </a:r>
            <a:endParaRPr sz="2550"/>
          </a:p>
          <a:p>
            <a:pPr marL="0" lvl="0" indent="0" algn="l" rtl="0">
              <a:spcBef>
                <a:spcPts val="1200"/>
              </a:spcBef>
              <a:spcAft>
                <a:spcPts val="0"/>
              </a:spcAft>
              <a:buNone/>
            </a:pPr>
            <a:endParaRPr sz="2550"/>
          </a:p>
          <a:p>
            <a:pPr marL="0" lvl="0" indent="0" algn="l" rtl="0">
              <a:spcBef>
                <a:spcPts val="1200"/>
              </a:spcBef>
              <a:spcAft>
                <a:spcPts val="0"/>
              </a:spcAft>
              <a:buNone/>
            </a:pPr>
            <a:r>
              <a:rPr lang="en" sz="2550"/>
              <a:t>How to change the database scoped configurations?</a:t>
            </a:r>
            <a:endParaRPr sz="2550"/>
          </a:p>
          <a:p>
            <a:pPr marL="0" lvl="0" indent="0" algn="l" rtl="0">
              <a:spcBef>
                <a:spcPts val="1200"/>
              </a:spcBef>
              <a:spcAft>
                <a:spcPts val="0"/>
              </a:spcAft>
              <a:buNone/>
            </a:pPr>
            <a:endParaRPr sz="2550"/>
          </a:p>
          <a:p>
            <a:pPr marL="0" lvl="0" indent="0" algn="l" rtl="0">
              <a:spcBef>
                <a:spcPts val="1200"/>
              </a:spcBef>
              <a:spcAft>
                <a:spcPts val="0"/>
              </a:spcAft>
              <a:buNone/>
            </a:pPr>
            <a:r>
              <a:rPr lang="en" sz="2550"/>
              <a:t>ALTER DATABASE SCOPED CONFIGURATION SET featurenamehere = ON;</a:t>
            </a:r>
            <a:endParaRPr sz="2550"/>
          </a:p>
          <a:p>
            <a:pPr marL="0" lvl="0" indent="0" algn="l" rtl="0">
              <a:spcBef>
                <a:spcPts val="1200"/>
              </a:spcBef>
              <a:spcAft>
                <a:spcPts val="0"/>
              </a:spcAft>
              <a:buNone/>
            </a:pPr>
            <a:endParaRPr sz="2550"/>
          </a:p>
          <a:p>
            <a:pPr marL="0" lvl="0" indent="0" algn="l" rtl="0">
              <a:spcBef>
                <a:spcPts val="1200"/>
              </a:spcBef>
              <a:spcAft>
                <a:spcPts val="0"/>
              </a:spcAft>
              <a:buNone/>
            </a:pPr>
            <a:r>
              <a:rPr lang="en" sz="2550" u="sng">
                <a:solidFill>
                  <a:schemeClr val="hlink"/>
                </a:solidFill>
                <a:hlinkClick r:id="rId3"/>
              </a:rPr>
              <a:t>https://www.sqlskills.com/blogs/jonathan/logging-database-scoped-configuration-changes/</a:t>
            </a:r>
            <a:r>
              <a:rPr lang="en" sz="2550"/>
              <a:t> </a:t>
            </a:r>
            <a:endParaRPr sz="2550"/>
          </a:p>
          <a:p>
            <a:pPr marL="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76">
          <a:extLst>
            <a:ext uri="{FF2B5EF4-FFF2-40B4-BE49-F238E27FC236}">
              <a16:creationId xmlns:a16="http://schemas.microsoft.com/office/drawing/2014/main" id="{19BC76F7-309F-E083-4946-5A3762C6E776}"/>
            </a:ext>
          </a:extLst>
        </p:cNvPr>
        <p:cNvGrpSpPr/>
        <p:nvPr/>
      </p:nvGrpSpPr>
      <p:grpSpPr>
        <a:xfrm>
          <a:off x="0" y="0"/>
          <a:ext cx="0" cy="0"/>
          <a:chOff x="0" y="0"/>
          <a:chExt cx="0" cy="0"/>
        </a:xfrm>
      </p:grpSpPr>
      <p:sp>
        <p:nvSpPr>
          <p:cNvPr id="377" name="Google Shape;377;p65">
            <a:extLst>
              <a:ext uri="{FF2B5EF4-FFF2-40B4-BE49-F238E27FC236}">
                <a16:creationId xmlns:a16="http://schemas.microsoft.com/office/drawing/2014/main" id="{AACFC7B2-186E-A5A6-50B8-E994B0A439E0}"/>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Buttons Levers and Dials</a:t>
            </a:r>
            <a:endParaRPr/>
          </a:p>
        </p:txBody>
      </p:sp>
      <p:sp>
        <p:nvSpPr>
          <p:cNvPr id="378" name="Google Shape;378;p65">
            <a:extLst>
              <a:ext uri="{FF2B5EF4-FFF2-40B4-BE49-F238E27FC236}">
                <a16:creationId xmlns:a16="http://schemas.microsoft.com/office/drawing/2014/main" id="{3C976F56-A310-1004-4CB6-F4BE1FE5829D}"/>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indent="0">
              <a:spcAft>
                <a:spcPts val="1200"/>
              </a:spcAft>
              <a:buNone/>
            </a:pPr>
            <a:r>
              <a:rPr lang="en" dirty="0"/>
              <a:t>Other Settings to Think About:</a:t>
            </a:r>
          </a:p>
          <a:p>
            <a:pPr marL="0" indent="0">
              <a:lnSpc>
                <a:spcPct val="114999"/>
              </a:lnSpc>
              <a:spcAft>
                <a:spcPts val="1200"/>
              </a:spcAft>
              <a:buNone/>
            </a:pPr>
            <a:endParaRPr lang="en" dirty="0"/>
          </a:p>
          <a:p>
            <a:pPr marL="0" indent="0">
              <a:lnSpc>
                <a:spcPct val="114999"/>
              </a:lnSpc>
              <a:spcAft>
                <a:spcPts val="1200"/>
              </a:spcAft>
              <a:buNone/>
            </a:pPr>
            <a:r>
              <a:rPr lang="en" dirty="0"/>
              <a:t>Accelerated Database Recovery</a:t>
            </a:r>
          </a:p>
          <a:p>
            <a:pPr marL="0" indent="0">
              <a:lnSpc>
                <a:spcPct val="114999"/>
              </a:lnSpc>
              <a:spcAft>
                <a:spcPts val="1200"/>
              </a:spcAft>
              <a:buNone/>
            </a:pPr>
            <a:r>
              <a:rPr lang="en"/>
              <a:t>ZTF Backup Compression </a:t>
            </a:r>
          </a:p>
          <a:p>
            <a:pPr marL="0" indent="0">
              <a:lnSpc>
                <a:spcPct val="114999"/>
              </a:lnSpc>
              <a:spcAft>
                <a:spcPts val="1200"/>
              </a:spcAft>
              <a:buNone/>
            </a:pPr>
            <a:r>
              <a:rPr lang="en" dirty="0"/>
              <a:t>Target Recovery Time(seconds)/Indirect Checkpointing</a:t>
            </a:r>
          </a:p>
        </p:txBody>
      </p:sp>
    </p:spTree>
    <p:extLst>
      <p:ext uri="{BB962C8B-B14F-4D97-AF65-F5344CB8AC3E}">
        <p14:creationId xmlns:p14="http://schemas.microsoft.com/office/powerpoint/2010/main" val="2413733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70">
          <a:extLst>
            <a:ext uri="{FF2B5EF4-FFF2-40B4-BE49-F238E27FC236}">
              <a16:creationId xmlns:a16="http://schemas.microsoft.com/office/drawing/2014/main" id="{E622FB57-2D77-B2A5-BC13-DCC6F16EB957}"/>
            </a:ext>
          </a:extLst>
        </p:cNvPr>
        <p:cNvGrpSpPr/>
        <p:nvPr/>
      </p:nvGrpSpPr>
      <p:grpSpPr>
        <a:xfrm>
          <a:off x="0" y="0"/>
          <a:ext cx="0" cy="0"/>
          <a:chOff x="0" y="0"/>
          <a:chExt cx="0" cy="0"/>
        </a:xfrm>
      </p:grpSpPr>
      <p:sp>
        <p:nvSpPr>
          <p:cNvPr id="371" name="Google Shape;371;p64">
            <a:extLst>
              <a:ext uri="{FF2B5EF4-FFF2-40B4-BE49-F238E27FC236}">
                <a16:creationId xmlns:a16="http://schemas.microsoft.com/office/drawing/2014/main" id="{1F0396E4-F57E-5156-6D8F-8087B93367E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Buttons Levers and Dials</a:t>
            </a:r>
            <a:endParaRPr/>
          </a:p>
        </p:txBody>
      </p:sp>
      <p:sp>
        <p:nvSpPr>
          <p:cNvPr id="372" name="Google Shape;372;p64">
            <a:extLst>
              <a:ext uri="{FF2B5EF4-FFF2-40B4-BE49-F238E27FC236}">
                <a16:creationId xmlns:a16="http://schemas.microsoft.com/office/drawing/2014/main" id="{11040056-B32E-A7DF-0AEA-5AACEEB9D25F}"/>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indent="0" algn="ctr">
              <a:spcBef>
                <a:spcPts val="1200"/>
              </a:spcBef>
              <a:spcAft>
                <a:spcPts val="1200"/>
              </a:spcAft>
              <a:buNone/>
            </a:pPr>
            <a:r>
              <a:rPr lang="en" sz="2400" dirty="0"/>
              <a:t>Questions ?</a:t>
            </a:r>
          </a:p>
        </p:txBody>
      </p:sp>
    </p:spTree>
    <p:extLst>
      <p:ext uri="{BB962C8B-B14F-4D97-AF65-F5344CB8AC3E}">
        <p14:creationId xmlns:p14="http://schemas.microsoft.com/office/powerpoint/2010/main" val="22454501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30914060-A9D3-BE69-885D-968E74CA0C9A}"/>
            </a:ext>
          </a:extLst>
        </p:cNvPr>
        <p:cNvGrpSpPr/>
        <p:nvPr/>
      </p:nvGrpSpPr>
      <p:grpSpPr>
        <a:xfrm>
          <a:off x="0" y="0"/>
          <a:ext cx="0" cy="0"/>
          <a:chOff x="0" y="0"/>
          <a:chExt cx="0" cy="0"/>
        </a:xfrm>
      </p:grpSpPr>
      <p:sp>
        <p:nvSpPr>
          <p:cNvPr id="72" name="Google Shape;72;p16">
            <a:extLst>
              <a:ext uri="{FF2B5EF4-FFF2-40B4-BE49-F238E27FC236}">
                <a16:creationId xmlns:a16="http://schemas.microsoft.com/office/drawing/2014/main" id="{D20BBFB1-1FA8-D768-F5F6-2F62039DA51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algn="ctr"/>
            <a:r>
              <a:rPr lang="en" dirty="0"/>
              <a:t>Contact Info/Slides</a:t>
            </a:r>
          </a:p>
        </p:txBody>
      </p:sp>
      <p:sp>
        <p:nvSpPr>
          <p:cNvPr id="73" name="Google Shape;73;p16">
            <a:extLst>
              <a:ext uri="{FF2B5EF4-FFF2-40B4-BE49-F238E27FC236}">
                <a16:creationId xmlns:a16="http://schemas.microsoft.com/office/drawing/2014/main" id="{2B333434-F03D-0935-4F5E-5EBC1D582C21}"/>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indent="0">
              <a:lnSpc>
                <a:spcPct val="200000"/>
              </a:lnSpc>
              <a:spcBef>
                <a:spcPts val="1200"/>
              </a:spcBef>
              <a:buNone/>
            </a:pPr>
            <a:r>
              <a:rPr lang="en" dirty="0"/>
              <a:t>Blog at </a:t>
            </a:r>
            <a:r>
              <a:rPr lang="en" dirty="0">
                <a:solidFill>
                  <a:srgbClr val="0097A7"/>
                </a:solidFill>
                <a:hlinkClick r:id="rId3">
                  <a:extLst>
                    <a:ext uri="{A12FA001-AC4F-418D-AE19-62706E023703}">
                      <ahyp:hlinkClr xmlns:ahyp="http://schemas.microsoft.com/office/drawing/2018/hyperlinkcolor" val="tx"/>
                    </a:ext>
                  </a:extLst>
                </a:hlinkClick>
              </a:rPr>
              <a:t>https://leemarkum.com</a:t>
            </a:r>
            <a:r>
              <a:rPr lang="en" dirty="0"/>
              <a:t> </a:t>
            </a:r>
          </a:p>
          <a:p>
            <a:pPr indent="0">
              <a:lnSpc>
                <a:spcPct val="200000"/>
              </a:lnSpc>
              <a:spcBef>
                <a:spcPts val="1200"/>
              </a:spcBef>
              <a:buNone/>
            </a:pPr>
            <a:r>
              <a:rPr lang="en" dirty="0">
                <a:hlinkClick r:id="rId4">
                  <a:extLst>
                    <a:ext uri="{A12FA001-AC4F-418D-AE19-62706E023703}">
                      <ahyp:hlinkClr xmlns:ahyp="http://schemas.microsoft.com/office/drawing/2018/hyperlinkcolor" val="tx"/>
                    </a:ext>
                  </a:extLst>
                </a:hlinkClick>
              </a:rPr>
              <a:t>Email:</a:t>
            </a:r>
            <a:r>
              <a:rPr lang="en" u="sng" dirty="0">
                <a:solidFill>
                  <a:schemeClr val="hlink"/>
                </a:solidFill>
                <a:hlinkClick r:id="rId4">
                  <a:extLst>
                    <a:ext uri="{A12FA001-AC4F-418D-AE19-62706E023703}">
                      <ahyp:hlinkClr xmlns:ahyp="http://schemas.microsoft.com/office/drawing/2018/hyperlinkcolor" val="tx"/>
                    </a:ext>
                  </a:extLst>
                </a:hlinkClick>
              </a:rPr>
              <a:t>lmarkum@live.com</a:t>
            </a:r>
            <a:endParaRPr lang="en" u="sng" dirty="0">
              <a:solidFill>
                <a:schemeClr val="hlink"/>
              </a:solidFill>
            </a:endParaRPr>
          </a:p>
          <a:p>
            <a:pPr indent="0">
              <a:lnSpc>
                <a:spcPct val="200000"/>
              </a:lnSpc>
              <a:spcBef>
                <a:spcPts val="1200"/>
              </a:spcBef>
              <a:buNone/>
            </a:pPr>
            <a:r>
              <a:rPr lang="en" dirty="0">
                <a:solidFill>
                  <a:srgbClr val="595959"/>
                </a:solidFill>
                <a:hlinkClick r:id="rId5"/>
              </a:rPr>
              <a:t>https://github.com/lmarkum</a:t>
            </a:r>
            <a:r>
              <a:rPr lang="en" dirty="0">
                <a:solidFill>
                  <a:srgbClr val="595959"/>
                </a:solidFill>
              </a:rPr>
              <a:t> </a:t>
            </a:r>
            <a:endParaRPr lang="en" dirty="0"/>
          </a:p>
          <a:p>
            <a:pPr marL="0" indent="0">
              <a:lnSpc>
                <a:spcPct val="200000"/>
              </a:lnSpc>
              <a:spcBef>
                <a:spcPts val="1200"/>
              </a:spcBef>
              <a:spcAft>
                <a:spcPts val="1200"/>
              </a:spcAft>
              <a:buNone/>
            </a:pPr>
            <a:endParaRPr dirty="0"/>
          </a:p>
        </p:txBody>
      </p:sp>
    </p:spTree>
    <p:extLst>
      <p:ext uri="{BB962C8B-B14F-4D97-AF65-F5344CB8AC3E}">
        <p14:creationId xmlns:p14="http://schemas.microsoft.com/office/powerpoint/2010/main" val="134239451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1739</Words>
  <Application>Microsoft Office PowerPoint</Application>
  <PresentationFormat>On-screen Show (16:9)</PresentationFormat>
  <Paragraphs>311</Paragraphs>
  <Slides>50</Slides>
  <Notes>49</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Segoe UI</vt:lpstr>
      <vt:lpstr>Segoe UI Semibold</vt:lpstr>
      <vt:lpstr>Simple Light</vt:lpstr>
      <vt:lpstr>Buttons, Levers, and Dials</vt:lpstr>
      <vt:lpstr>Thank You to Our Event Sponsors We gratefully acknowledge the generous support of our sponsors.  Their partnership makes this event possible.</vt:lpstr>
      <vt:lpstr>About Me</vt:lpstr>
      <vt:lpstr>Contact Info/Slides</vt:lpstr>
      <vt:lpstr>Agenda</vt:lpstr>
      <vt:lpstr>Server Level Settings</vt:lpstr>
      <vt:lpstr>Server Level Settings</vt:lpstr>
      <vt:lpstr>Server Level Settings</vt:lpstr>
      <vt:lpstr>Buttons Levers and Dials</vt:lpstr>
      <vt:lpstr>Server Level Settings</vt:lpstr>
      <vt:lpstr>Server Level Settings</vt:lpstr>
      <vt:lpstr>Server Level Settings</vt:lpstr>
      <vt:lpstr>Server Level Settings</vt:lpstr>
      <vt:lpstr>Server Level Settings</vt:lpstr>
      <vt:lpstr>Server Level Settings</vt:lpstr>
      <vt:lpstr>Server Level Settings</vt:lpstr>
      <vt:lpstr>Server Level Settings</vt:lpstr>
      <vt:lpstr>Server Level Settings</vt:lpstr>
      <vt:lpstr>Server Level Settings</vt:lpstr>
      <vt:lpstr>Server Level Settings</vt:lpstr>
      <vt:lpstr>Server Level Settings</vt:lpstr>
      <vt:lpstr>Server Level Settings</vt:lpstr>
      <vt:lpstr>Server Level Settings</vt:lpstr>
      <vt:lpstr>Server Level Settings</vt:lpstr>
      <vt:lpstr>Server Level Settings</vt:lpstr>
      <vt:lpstr>Server Level Settings</vt:lpstr>
      <vt:lpstr>Server Level Settings</vt:lpstr>
      <vt:lpstr>Server Level Settings</vt:lpstr>
      <vt:lpstr>Server Level Settings</vt:lpstr>
      <vt:lpstr>Server Level Settings</vt:lpstr>
      <vt:lpstr>Server Level Settings</vt:lpstr>
      <vt:lpstr>Server Level Settings</vt:lpstr>
      <vt:lpstr>Buttons Levers and Dials</vt:lpstr>
      <vt:lpstr>Database Level Settings</vt:lpstr>
      <vt:lpstr>Database Level Settings</vt:lpstr>
      <vt:lpstr>Database Level Settings</vt:lpstr>
      <vt:lpstr>Database Level Settings</vt:lpstr>
      <vt:lpstr>Database Level Settings</vt:lpstr>
      <vt:lpstr>Database Level Settings</vt:lpstr>
      <vt:lpstr>Database Level Settings</vt:lpstr>
      <vt:lpstr>Database Level Settings</vt:lpstr>
      <vt:lpstr>Database Level Settings</vt:lpstr>
      <vt:lpstr>Database Level Settings</vt:lpstr>
      <vt:lpstr>Database Level Settings</vt:lpstr>
      <vt:lpstr>Database Level Settings</vt:lpstr>
      <vt:lpstr>Database Level Settings</vt:lpstr>
      <vt:lpstr>Database Level Settings</vt:lpstr>
      <vt:lpstr>Buttons Levers and Dials</vt:lpstr>
      <vt:lpstr>Buttons Levers and Dials</vt:lpstr>
      <vt:lpstr>Contact Info/Slides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Lee Markum</cp:lastModifiedBy>
  <cp:revision>342</cp:revision>
  <dcterms:modified xsi:type="dcterms:W3CDTF">2025-10-27T00:39:05Z</dcterms:modified>
</cp:coreProperties>
</file>