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8.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41.xml.rels" ContentType="application/vnd.openxmlformats-package.relationships+xml"/>
  <Override PartName="/ppt/slides/_rels/slide39.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9.jpeg" ContentType="image/jpeg"/>
  <Override PartName="/ppt/media/image4.jpeg" ContentType="image/jpe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317FD4E1-6619-4319-B515-89CF9FF8C183}"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AABE4C29-7668-4CCA-B4F6-AA59D7CA1861}"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64D6D661-ECA4-455A-BC03-4AF04313A9FA}"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16760F4-1BFA-496C-B91A-9211C2104F50}"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98C70DC6-130D-4008-9EAB-6B24ADB6F1B6}"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8"/>
          </p:nvPr>
        </p:nvSpPr>
        <p:spPr/>
        <p:txBody>
          <a:bodyPr/>
          <a:p>
            <a:fld id="{4FB1E3E2-82B6-4141-8FEF-883392E43F36}"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8"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9"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9"/>
          </p:nvPr>
        </p:nvSpPr>
        <p:spPr/>
        <p:txBody>
          <a:bodyPr/>
          <a:p>
            <a:fld id="{6E1012D6-A712-4C8C-A11C-928BA47E29F5}"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0"/>
          </p:nvPr>
        </p:nvSpPr>
        <p:spPr/>
        <p:txBody>
          <a:bodyPr/>
          <a:p>
            <a:fld id="{0547A0B0-8344-47F4-9784-A97DC2ABEBA2}"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D2FCADA0-540F-45EE-B521-9EBFC5FB354F}"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12"/>
          </p:nvPr>
        </p:nvSpPr>
        <p:spPr/>
        <p:txBody>
          <a:bodyPr/>
          <a:p>
            <a:fld id="{65037917-7151-4C00-B670-631072E18C90}"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3"/>
          </p:nvPr>
        </p:nvSpPr>
        <p:spPr/>
        <p:txBody>
          <a:bodyPr/>
          <a:p>
            <a:fld id="{F105DBDA-9D4E-43E5-BF0B-97BD8F4A43A7}"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4"/>
          </p:nvPr>
        </p:nvSpPr>
        <p:spPr/>
        <p:txBody>
          <a:bodyPr/>
          <a:p>
            <a:fld id="{03657039-05DD-4330-BED8-61A3F8A3A28F}"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pc="-1" strike="noStrike">
                <a:solidFill>
                  <a:srgbClr val="000000"/>
                </a:solidFill>
                <a:latin typeface="Arial"/>
              </a:rPr>
              <a:t>Click to edit the title text format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E0C85DF9-8010-4268-AA6B-4982145B5938}"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fontScale="98341"/>
          </a:bodyPr>
          <a:p>
            <a:pPr indent="0" algn="ctr">
              <a:lnSpc>
                <a:spcPct val="100000"/>
              </a:lnSpc>
              <a:buNone/>
            </a:pPr>
            <a:r>
              <a:rPr b="0" lang="en-US" sz="12000" spc="-1" strike="noStrike">
                <a:solidFill>
                  <a:schemeClr val="dk1"/>
                </a:solidFill>
                <a:latin typeface="Arial"/>
                <a:ea typeface="Arial"/>
              </a:rPr>
              <a:t>xx%</a:t>
            </a:r>
            <a:endParaRPr b="0" lang="en-US" sz="12000" spc="-1" strike="noStrike">
              <a:solidFill>
                <a:srgbClr val="000000"/>
              </a:solidFill>
              <a:latin typeface="Arial"/>
            </a:endParaRPr>
          </a:p>
        </p:txBody>
      </p:sp>
      <p:sp>
        <p:nvSpPr>
          <p:cNvPr id="6"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10B483D2-C2E8-468E-B816-4CE1FEA283A6}"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8E99B586-7C93-4A75-B567-BF8F499A289B}"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Autofit/>
          </a:bodyPr>
          <a:p>
            <a:pPr indent="0">
              <a:lnSpc>
                <a:spcPct val="100000"/>
              </a:lnSpc>
              <a:buNone/>
            </a:pPr>
            <a:r>
              <a:rPr b="0" lang="en-US" sz="2800" spc="-1" strike="noStrike">
                <a:solidFill>
                  <a:schemeClr val="dk1"/>
                </a:solidFill>
                <a:latin typeface="Arial"/>
                <a:ea typeface="Arial"/>
              </a:rPr>
              <a:t>Click to edit Master title style</a:t>
            </a:r>
            <a:endParaRPr b="0" lang="en-US" sz="2800" spc="-1" strike="noStrike">
              <a:solidFill>
                <a:srgbClr val="000000"/>
              </a:solidFill>
              <a:latin typeface="Arial"/>
            </a:endParaRPr>
          </a:p>
        </p:txBody>
      </p:sp>
      <p:sp>
        <p:nvSpPr>
          <p:cNvPr id="10"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Autofit/>
          </a:bodyPr>
          <a:p>
            <a:pPr marL="457200" indent="-343080">
              <a:lnSpc>
                <a:spcPct val="115000"/>
              </a:lnSpc>
              <a:buClr>
                <a:srgbClr val="595959"/>
              </a:buClr>
              <a:buFont typeface="Arial"/>
              <a:buChar char="●"/>
            </a:pPr>
            <a:r>
              <a:rPr b="0" lang="en-US" sz="1800" spc="-1" strike="noStrike">
                <a:solidFill>
                  <a:schemeClr val="dk2"/>
                </a:solidFill>
                <a:latin typeface="Arial"/>
                <a:ea typeface="Arial"/>
              </a:rPr>
              <a:t>Click to edit Master text styles</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US" sz="1400" spc="-1" strike="noStrike">
                <a:solidFill>
                  <a:schemeClr val="dk2"/>
                </a:solidFill>
                <a:latin typeface="Arial"/>
                <a:ea typeface="Arial"/>
              </a:rPr>
              <a:t>Second level</a:t>
            </a:r>
            <a:endParaRPr b="0" lang="en-US" sz="1400" spc="-1" strike="noStrike">
              <a:solidFill>
                <a:srgbClr val="000000"/>
              </a:solidFill>
              <a:latin typeface="Arial"/>
            </a:endParaRPr>
          </a:p>
          <a:p>
            <a:pPr lvl="2" marL="1371600" indent="-317520">
              <a:lnSpc>
                <a:spcPct val="115000"/>
              </a:lnSpc>
              <a:buClr>
                <a:srgbClr val="595959"/>
              </a:buClr>
              <a:buFont typeface="Arial"/>
              <a:buChar char="■"/>
            </a:pPr>
            <a:r>
              <a:rPr b="0" lang="en-US" sz="1400" spc="-1" strike="noStrike">
                <a:solidFill>
                  <a:schemeClr val="dk2"/>
                </a:solidFill>
                <a:latin typeface="Arial"/>
                <a:ea typeface="Arial"/>
              </a:rPr>
              <a:t>Third level</a:t>
            </a:r>
            <a:endParaRPr b="0" lang="en-US" sz="1400" spc="-1" strike="noStrike">
              <a:solidFill>
                <a:srgbClr val="000000"/>
              </a:solidFill>
              <a:latin typeface="Arial"/>
            </a:endParaRPr>
          </a:p>
          <a:p>
            <a:pPr lvl="3" marL="1828800" indent="-317520">
              <a:lnSpc>
                <a:spcPct val="115000"/>
              </a:lnSpc>
              <a:buClr>
                <a:srgbClr val="595959"/>
              </a:buClr>
              <a:buFont typeface="Arial"/>
              <a:buChar char="●"/>
            </a:pPr>
            <a:r>
              <a:rPr b="0" lang="en-US" sz="1400" spc="-1" strike="noStrike">
                <a:solidFill>
                  <a:schemeClr val="dk2"/>
                </a:solidFill>
                <a:latin typeface="Arial"/>
                <a:ea typeface="Arial"/>
              </a:rPr>
              <a:t>Fourth level</a:t>
            </a:r>
            <a:endParaRPr b="0" lang="en-US" sz="1400" spc="-1" strike="noStrike">
              <a:solidFill>
                <a:srgbClr val="000000"/>
              </a:solidFill>
              <a:latin typeface="Arial"/>
            </a:endParaRPr>
          </a:p>
          <a:p>
            <a:pPr lvl="4" marL="2286000" indent="-317520">
              <a:lnSpc>
                <a:spcPct val="115000"/>
              </a:lnSpc>
              <a:buClr>
                <a:srgbClr val="595959"/>
              </a:buClr>
              <a:buFont typeface="Arial"/>
              <a:buChar char="○"/>
            </a:pPr>
            <a:r>
              <a:rPr b="0" lang="en-US" sz="1400" spc="-1" strike="noStrike">
                <a:solidFill>
                  <a:schemeClr val="dk2"/>
                </a:solidFill>
                <a:latin typeface="Arial"/>
                <a:ea typeface="Arial"/>
              </a:rPr>
              <a:t>Fifth level</a:t>
            </a:r>
            <a:endParaRPr b="0" lang="en-US" sz="1400" spc="-1" strike="noStrike">
              <a:solidFill>
                <a:srgbClr val="000000"/>
              </a:solidFill>
              <a:latin typeface="Arial"/>
            </a:endParaRPr>
          </a:p>
        </p:txBody>
      </p:sp>
      <p:sp>
        <p:nvSpPr>
          <p:cNvPr id="11" name="PlaceHolder 3"/>
          <p:cNvSpPr>
            <a:spLocks noGrp="1"/>
          </p:cNvSpPr>
          <p:nvPr>
            <p:ph type="dt" idx="4"/>
          </p:nvPr>
        </p:nvSpPr>
        <p:spPr>
          <a:xfrm>
            <a:off x="0" y="0"/>
            <a:ext cx="0" cy="0"/>
          </a:xfrm>
          <a:prstGeom prst="rect">
            <a:avLst/>
          </a:prstGeom>
          <a:noFill/>
          <a:ln w="0">
            <a:noFill/>
          </a:ln>
        </p:spPr>
        <p:txBody>
          <a:bodyPr lIns="90000" rIns="90000" tIns="-45000" bIns="-45000" anchor="t">
            <a:noAutofit/>
          </a:bodyPr>
          <a:lstStyle>
            <a:lvl1pPr indent="0">
              <a:lnSpc>
                <a:spcPct val="100000"/>
              </a:lnSpc>
              <a:buNone/>
              <a:defRPr b="0" lang="en-US" sz="1400" spc="-1" strike="noStrike">
                <a:solidFill>
                  <a:srgbClr val="000000"/>
                </a:solidFill>
                <a:latin typeface="Arial"/>
                <a:ea typeface="Arial"/>
              </a:defRPr>
            </a:lvl1pPr>
          </a:lstStyle>
          <a:p>
            <a:pPr indent="0">
              <a:lnSpc>
                <a:spcPct val="100000"/>
              </a:lnSpc>
              <a:buNone/>
            </a:pPr>
            <a:r>
              <a:rPr b="0" lang="en-US" sz="1400" spc="-1" strike="noStrike">
                <a:solidFill>
                  <a:srgbClr val="000000"/>
                </a:solidFill>
                <a:latin typeface="Arial"/>
                <a:ea typeface="Arial"/>
              </a:rPr>
              <a:t>&lt;date/time&gt;</a:t>
            </a:r>
            <a:endParaRPr b="0" lang="en-US" sz="1400" spc="-1" strike="noStrike">
              <a:solidFill>
                <a:srgbClr val="000000"/>
              </a:solidFill>
              <a:latin typeface="Times New Roman"/>
            </a:endParaRPr>
          </a:p>
        </p:txBody>
      </p:sp>
      <p:sp>
        <p:nvSpPr>
          <p:cNvPr id="12" name="PlaceHolder 4"/>
          <p:cNvSpPr>
            <a:spLocks noGrp="1"/>
          </p:cNvSpPr>
          <p:nvPr>
            <p:ph type="ftr" idx="5"/>
          </p:nvPr>
        </p:nvSpPr>
        <p:spPr>
          <a:xfrm>
            <a:off x="0" y="0"/>
            <a:ext cx="0" cy="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5"/>
          <p:cNvSpPr>
            <a:spLocks noGrp="1"/>
          </p:cNvSpPr>
          <p:nvPr>
            <p:ph type="sldNum" idx="6"/>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defRPr b="0" lang="en-US" sz="1000" spc="-1" strike="noStrike">
                <a:solidFill>
                  <a:schemeClr val="dk2"/>
                </a:solidFill>
                <a:latin typeface="Arial"/>
                <a:ea typeface="Arial"/>
              </a:defRPr>
            </a:lvl1pPr>
          </a:lstStyle>
          <a:p>
            <a:pPr indent="0" algn="r">
              <a:lnSpc>
                <a:spcPct val="100000"/>
              </a:lnSpc>
              <a:buNone/>
            </a:pPr>
            <a:fld id="{9636B5DE-6B92-4477-AF7D-352C580E6430}"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7"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6571404F-F887-49B6-B7D2-965FB1770906}"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9"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E406504E-2FBE-47F9-9CA3-6C044AFD1CCC}"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24"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25"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26" name="PlaceHolder 4"/>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0BEBE432-FA99-47C4-935B-6E8E65814A10}"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31" name="PlaceHolder 2"/>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8DA3514C-42CA-4853-9086-19BB767A99B8}"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34"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35" name="PlaceHolder 3"/>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CD1CA692-E991-4840-84AA-CA0AFEF35534}"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37" name="PlaceHolder 2"/>
          <p:cNvSpPr>
            <a:spLocks noGrp="1"/>
          </p:cNvSpPr>
          <p:nvPr>
            <p:ph type="sldNum" idx="1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040D58B9-060E-4568-8409-FBFDD5FC21B0}"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a typeface="Arial"/>
            </a:endParaRPr>
          </a:p>
        </p:txBody>
      </p:sp>
      <p:sp>
        <p:nvSpPr>
          <p:cNvPr id="39"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40"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 name="PlaceHolder 3"/>
          <p:cNvSpPr>
            <a:spLocks noGrp="1"/>
          </p:cNvSpPr>
          <p:nvPr>
            <p:ph type="sldNum" idx="1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05FBE9F2-3FD1-4C95-8ABF-79E68B3A94FE}"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 name="PlaceHolder 2"/>
          <p:cNvSpPr>
            <a:spLocks noGrp="1"/>
          </p:cNvSpPr>
          <p:nvPr>
            <p:ph type="sldNum" idx="1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27BB4F6C-A27F-4BEF-A61E-BD943DDE4DAA}"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hyperlink" Target="https://leemarkum.com/" TargetMode="External"/><Relationship Id="rId2" Type="http://schemas.openxmlformats.org/officeDocument/2006/relationships/hyperlink" Target="mailto:Email:lmarkum@live.com" TargetMode="External"/><Relationship Id="rId3" Type="http://schemas.openxmlformats.org/officeDocument/2006/relationships/hyperlink" Target="mailto:Email:lmarkum@live.com" TargetMode="External"/><Relationship Id="rId4" Type="http://schemas.openxmlformats.org/officeDocument/2006/relationships/hyperlink" Target="https://github.com/lmarkum" TargetMode="External"/><Relationship Id="rId5"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hyperlink" Target="https://bit.ly/4kkVGbv" TargetMode="External"/><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hyperlink" Target="https://bit.ly/3HBOrxj" TargetMode="External"/><Relationship Id="rId2" Type="http://schemas.openxmlformats.org/officeDocument/2006/relationships/image" Target="../media/image6.png"/><Relationship Id="rId3"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hyperlink" Target="https://bit.ly/3HhGb5N" TargetMode="External"/><Relationship Id="rId2"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hyperlink" Target="https://erikdarling.com/thoughts-on-maxdop/" TargetMode="External"/><Relationship Id="rId2"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hyperlink" Target="https://bit.ly/4dPuL5l" TargetMode="External"/><Relationship Id="rId2"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hyperlink" Target="https://unsplash.com/@hermez777?utm_content=creditCopyText&amp;utm_medium=referral&amp;utm_source=unsplash" TargetMode="External"/><Relationship Id="rId2" Type="http://schemas.openxmlformats.org/officeDocument/2006/relationships/hyperlink" Target="https://unsplash.com/@hermez777?utm_content=creditCopyText&amp;utm_medium=referral&amp;utm_source=unsplash" TargetMode="External"/><Relationship Id="rId3" Type="http://schemas.openxmlformats.org/officeDocument/2006/relationships/hyperlink" Target="https://unsplash.com/photos/two-man-wearing-training-gloves-on-ring-_rNVw54xZZg?utm_content=creditCopyText&amp;utm_medium=referral&amp;utm_source=unsplash" TargetMode="External"/><Relationship Id="rId4" Type="http://schemas.openxmlformats.org/officeDocument/2006/relationships/hyperlink" Target="https://unsplash.com/photos/two-man-wearing-training-gloves-on-ring-_rNVw54xZZg?utm_content=creditCopyText&amp;utm_medium=referral&amp;utm_source=unsplash" TargetMode="External"/><Relationship Id="rId5" Type="http://schemas.openxmlformats.org/officeDocument/2006/relationships/image" Target="../media/image9.jpeg"/><Relationship Id="rId6"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hyperlink" Target="https://bit.ly/3Mv9csa" TargetMode="External"/><Relationship Id="rId2"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2.xml.rels><?xml version="1.0" encoding="UTF-8"?>
<Relationships xmlns="http://schemas.openxmlformats.org/package/2006/relationships"><Relationship Id="rId1" Type="http://schemas.openxmlformats.org/officeDocument/2006/relationships/hyperlink" Target="https://bit.ly/3C0Zn1B" TargetMode="External"/><Relationship Id="rId2" Type="http://schemas.openxmlformats.org/officeDocument/2006/relationships/image" Target="../media/image11.png"/><Relationship Id="rId3" Type="http://schemas.openxmlformats.org/officeDocument/2006/relationships/slideLayout" Target="../slideLayouts/slideLayout6.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7.xml.rels><?xml version="1.0" encoding="UTF-8"?>
<Relationships xmlns="http://schemas.openxmlformats.org/package/2006/relationships"><Relationship Id="rId1" Type="http://schemas.openxmlformats.org/officeDocument/2006/relationships/hyperlink" Target="https://www.sqlskills.com/blogs/jonathan/logging-database-scoped-configuration-changes/" TargetMode="External"/><Relationship Id="rId2" Type="http://schemas.openxmlformats.org/officeDocument/2006/relationships/slideLayout" Target="../slideLayouts/slideLayout6.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0.xml.rels><?xml version="1.0" encoding="UTF-8"?>
<Relationships xmlns="http://schemas.openxmlformats.org/package/2006/relationships"><Relationship Id="rId1" Type="http://schemas.openxmlformats.org/officeDocument/2006/relationships/hyperlink" Target="https://leemarkum.com/" TargetMode="External"/><Relationship Id="rId2" Type="http://schemas.openxmlformats.org/officeDocument/2006/relationships/hyperlink" Target="mailto:Email:lmarkum@live.com" TargetMode="External"/><Relationship Id="rId3" Type="http://schemas.openxmlformats.org/officeDocument/2006/relationships/hyperlink" Target="mailto:Email:lmarkum@live.com" TargetMode="External"/><Relationship Id="rId4" Type="http://schemas.openxmlformats.org/officeDocument/2006/relationships/hyperlink" Target="https://github.com/lmarkum" TargetMode="External"/><Relationship Id="rId5"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 sz="5200" spc="-1" strike="noStrike">
                <a:solidFill>
                  <a:schemeClr val="dk1"/>
                </a:solidFill>
                <a:latin typeface="Arial"/>
                <a:ea typeface="Arial"/>
              </a:rPr>
              <a:t>Buttons, Levers, and Dials</a:t>
            </a:r>
            <a:endParaRPr b="0" lang="en-US" sz="5200" spc="-1" strike="noStrike">
              <a:solidFill>
                <a:srgbClr val="000000"/>
              </a:solidFill>
              <a:latin typeface="Arial"/>
            </a:endParaRPr>
          </a:p>
        </p:txBody>
      </p:sp>
      <p:sp>
        <p:nvSpPr>
          <p:cNvPr id="45" name="PlaceHolder 2"/>
          <p:cNvSpPr>
            <a:spLocks noGrp="1"/>
          </p:cNvSpPr>
          <p:nvPr>
            <p:ph type="subTitle"/>
          </p:nvPr>
        </p:nvSpPr>
        <p:spPr>
          <a:xfrm>
            <a:off x="311760" y="2834280"/>
            <a:ext cx="8520120" cy="79236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 sz="2800" spc="-1" strike="noStrike">
                <a:solidFill>
                  <a:schemeClr val="dk2"/>
                </a:solidFill>
                <a:latin typeface="Arial"/>
                <a:ea typeface="Arial"/>
              </a:rPr>
              <a:t>What to do with common SQL Server Settings!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cxnSp>
        <p:nvCxnSpPr>
          <p:cNvPr id="46" name="Straight Connector 24"/>
          <p:cNvCxnSpPr/>
          <p:nvPr/>
        </p:nvCxnSpPr>
        <p:spPr>
          <a:xfrm>
            <a:off x="1141200" y="3948840"/>
            <a:ext cx="2743560" cy="6480"/>
          </a:xfrm>
          <a:prstGeom prst="straightConnector1">
            <a:avLst/>
          </a:prstGeom>
          <a:ln>
            <a:solidFill>
              <a:srgbClr val="ffffff">
                <a:lumMod val="85000"/>
              </a:srgbClr>
            </a:solidFill>
            <a:round/>
          </a:ln>
        </p:spPr>
      </p:cxnSp>
      <p:cxnSp>
        <p:nvCxnSpPr>
          <p:cNvPr id="47" name="Straight Connector 23"/>
          <p:cNvCxnSpPr/>
          <p:nvPr/>
        </p:nvCxnSpPr>
        <p:spPr>
          <a:xfrm>
            <a:off x="1141200" y="2716560"/>
            <a:ext cx="6861600" cy="40320"/>
          </a:xfrm>
          <a:prstGeom prst="straightConnector1">
            <a:avLst/>
          </a:prstGeom>
          <a:ln>
            <a:solidFill>
              <a:srgbClr val="ffffff">
                <a:lumMod val="85000"/>
              </a:srgbClr>
            </a:solidFill>
            <a:round/>
          </a:ln>
        </p:spPr>
      </p:cxnSp>
      <p:cxnSp>
        <p:nvCxnSpPr>
          <p:cNvPr id="48" name="Straight Connector 22"/>
          <p:cNvCxnSpPr/>
          <p:nvPr/>
        </p:nvCxnSpPr>
        <p:spPr>
          <a:xfrm>
            <a:off x="1141200" y="1297440"/>
            <a:ext cx="6861600" cy="40680"/>
          </a:xfrm>
          <a:prstGeom prst="straightConnector1">
            <a:avLst/>
          </a:prstGeom>
          <a:ln>
            <a:solidFill>
              <a:srgbClr val="ffffff">
                <a:lumMod val="85000"/>
              </a:srgbClr>
            </a:solidFill>
            <a:round/>
          </a:ln>
        </p:spPr>
      </p:cxnSp>
      <p:sp>
        <p:nvSpPr>
          <p:cNvPr id="49" name="PlaceHolder 1"/>
          <p:cNvSpPr>
            <a:spLocks noGrp="1"/>
          </p:cNvSpPr>
          <p:nvPr>
            <p:ph type="title"/>
          </p:nvPr>
        </p:nvSpPr>
        <p:spPr>
          <a:xfrm>
            <a:off x="884880" y="122760"/>
            <a:ext cx="7373520" cy="993960"/>
          </a:xfrm>
          <a:prstGeom prst="rect">
            <a:avLst/>
          </a:prstGeom>
          <a:noFill/>
          <a:ln w="0">
            <a:noFill/>
          </a:ln>
        </p:spPr>
        <p:txBody>
          <a:bodyPr lIns="91440" rIns="91440" tIns="91440" bIns="91440" anchor="t">
            <a:noAutofit/>
          </a:bodyPr>
          <a:p>
            <a:pPr indent="0" algn="ctr" defTabSz="685800">
              <a:lnSpc>
                <a:spcPct val="100000"/>
              </a:lnSpc>
              <a:buNone/>
            </a:pPr>
            <a:r>
              <a:rPr b="0" lang="en-US" sz="3000" spc="-1" strike="noStrike">
                <a:solidFill>
                  <a:schemeClr val="dk1"/>
                </a:solidFill>
                <a:latin typeface="Segoe UI Semibold"/>
              </a:rPr>
              <a:t>Thank You to Our Event Sponsors</a:t>
            </a:r>
            <a:br>
              <a:rPr sz="2700"/>
            </a:br>
            <a:r>
              <a:rPr b="0" lang="en-US" sz="1200" spc="-1" strike="noStrike">
                <a:solidFill>
                  <a:schemeClr val="dk1"/>
                </a:solidFill>
                <a:latin typeface="Segoe UI"/>
              </a:rPr>
              <a:t>We gratefully acknowledge the generous support of our sponsors. </a:t>
            </a:r>
            <a:br>
              <a:rPr sz="1200"/>
            </a:br>
            <a:r>
              <a:rPr b="0" lang="en-US" sz="1200" spc="-1" strike="noStrike">
                <a:solidFill>
                  <a:schemeClr val="dk1"/>
                </a:solidFill>
                <a:latin typeface="Segoe UI"/>
              </a:rPr>
              <a:t>Their partnership makes this event possible.</a:t>
            </a:r>
            <a:endParaRPr b="0" lang="en-US" sz="1200" spc="-1" strike="noStrike">
              <a:solidFill>
                <a:srgbClr val="000000"/>
              </a:solidFill>
              <a:latin typeface="Arial"/>
            </a:endParaRPr>
          </a:p>
        </p:txBody>
      </p:sp>
      <p:sp>
        <p:nvSpPr>
          <p:cNvPr id="50" name="TextBox 10"/>
          <p:cNvSpPr/>
          <p:nvPr/>
        </p:nvSpPr>
        <p:spPr>
          <a:xfrm>
            <a:off x="3777480" y="1154880"/>
            <a:ext cx="1588680" cy="54684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defTabSz="685800">
              <a:lnSpc>
                <a:spcPct val="100000"/>
              </a:lnSpc>
            </a:pPr>
            <a:r>
              <a:rPr b="1" lang="en-US" sz="1500" spc="-1" strike="noStrike">
                <a:solidFill>
                  <a:schemeClr val="dk1"/>
                </a:solidFill>
                <a:latin typeface="Segoe UI Semibold"/>
              </a:rPr>
              <a:t>Global Sponsors</a:t>
            </a:r>
            <a:endParaRPr b="0" lang="en-US" sz="1500" spc="-1" strike="noStrike">
              <a:solidFill>
                <a:srgbClr val="000000"/>
              </a:solidFill>
              <a:latin typeface="Arial"/>
            </a:endParaRPr>
          </a:p>
        </p:txBody>
      </p:sp>
      <p:sp>
        <p:nvSpPr>
          <p:cNvPr id="51" name="TextBox 12"/>
          <p:cNvSpPr/>
          <p:nvPr/>
        </p:nvSpPr>
        <p:spPr>
          <a:xfrm>
            <a:off x="3886920" y="2565720"/>
            <a:ext cx="1369800" cy="546840"/>
          </a:xfrm>
          <a:prstGeom prst="rect">
            <a:avLst/>
          </a:prstGeom>
          <a:solidFill>
            <a:schemeClr val="bg1"/>
          </a:solidFill>
          <a:ln w="0">
            <a:noFill/>
          </a:ln>
        </p:spPr>
        <p:style>
          <a:lnRef idx="0"/>
          <a:fillRef idx="0"/>
          <a:effectRef idx="0"/>
          <a:fontRef idx="minor"/>
        </p:style>
        <p:txBody>
          <a:bodyPr lIns="90000" rIns="90000" tIns="45000" bIns="45000" anchor="t">
            <a:spAutoFit/>
          </a:bodyPr>
          <a:p>
            <a:pPr algn="ctr" defTabSz="685800">
              <a:lnSpc>
                <a:spcPct val="100000"/>
              </a:lnSpc>
            </a:pPr>
            <a:r>
              <a:rPr b="1" lang="en-US" sz="1500" spc="-1" strike="noStrike">
                <a:solidFill>
                  <a:schemeClr val="dk1"/>
                </a:solidFill>
                <a:latin typeface="Segoe UI Semibold"/>
              </a:rPr>
              <a:t>Silver Sponsor</a:t>
            </a:r>
            <a:endParaRPr b="0" lang="en-US" sz="1500" spc="-1" strike="noStrike">
              <a:solidFill>
                <a:srgbClr val="000000"/>
              </a:solidFill>
              <a:latin typeface="Arial"/>
            </a:endParaRPr>
          </a:p>
        </p:txBody>
      </p:sp>
      <p:sp>
        <p:nvSpPr>
          <p:cNvPr id="52" name="TextBox 13"/>
          <p:cNvSpPr/>
          <p:nvPr/>
        </p:nvSpPr>
        <p:spPr>
          <a:xfrm>
            <a:off x="1776240" y="3807720"/>
            <a:ext cx="1443600" cy="24444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defTabSz="685800">
              <a:lnSpc>
                <a:spcPct val="100000"/>
              </a:lnSpc>
            </a:pPr>
            <a:r>
              <a:rPr b="1" lang="en-US" sz="1010" spc="-1" strike="noStrike">
                <a:solidFill>
                  <a:schemeClr val="dk1"/>
                </a:solidFill>
                <a:latin typeface="Segoe UI Semibold"/>
              </a:rPr>
              <a:t>Bronze Sponsors</a:t>
            </a:r>
            <a:endParaRPr b="0" lang="en-US" sz="1010" spc="-1" strike="noStrike">
              <a:solidFill>
                <a:srgbClr val="000000"/>
              </a:solidFill>
              <a:latin typeface="Arial"/>
            </a:endParaRPr>
          </a:p>
        </p:txBody>
      </p:sp>
      <p:sp>
        <p:nvSpPr>
          <p:cNvPr id="53" name="TextBox 15"/>
          <p:cNvSpPr/>
          <p:nvPr/>
        </p:nvSpPr>
        <p:spPr>
          <a:xfrm>
            <a:off x="1756080" y="4733640"/>
            <a:ext cx="5631840" cy="249480"/>
          </a:xfrm>
          <a:prstGeom prst="rect">
            <a:avLst/>
          </a:prstGeom>
          <a:noFill/>
          <a:ln w="0">
            <a:noFill/>
          </a:ln>
        </p:spPr>
        <p:style>
          <a:lnRef idx="0"/>
          <a:fillRef idx="0"/>
          <a:effectRef idx="0"/>
          <a:fontRef idx="minor"/>
        </p:style>
        <p:txBody>
          <a:bodyPr lIns="90000" rIns="90000" tIns="45000" bIns="45000" anchor="t">
            <a:spAutoFit/>
          </a:bodyPr>
          <a:p>
            <a:pPr algn="ctr" defTabSz="685800">
              <a:lnSpc>
                <a:spcPct val="100000"/>
              </a:lnSpc>
            </a:pPr>
            <a:r>
              <a:rPr b="0" lang="en-US" sz="1050" spc="-1" strike="noStrike">
                <a:solidFill>
                  <a:schemeClr val="dk1"/>
                </a:solidFill>
                <a:latin typeface="Segoe UI"/>
              </a:rPr>
              <a:t>We appreciate every sponsor for helping us create a memorable event!</a:t>
            </a:r>
            <a:endParaRPr b="0" lang="en-US" sz="1050" spc="-1" strike="noStrike">
              <a:solidFill>
                <a:srgbClr val="000000"/>
              </a:solidFill>
              <a:latin typeface="Arial"/>
            </a:endParaRPr>
          </a:p>
        </p:txBody>
      </p:sp>
      <p:pic>
        <p:nvPicPr>
          <p:cNvPr id="54" name="Picture 16" descr=""/>
          <p:cNvPicPr/>
          <p:nvPr/>
        </p:nvPicPr>
        <p:blipFill>
          <a:blip r:embed="rId1"/>
          <a:srcRect l="4968" t="24854" r="49977" b="26505"/>
          <a:stretch/>
        </p:blipFill>
        <p:spPr>
          <a:xfrm>
            <a:off x="1532520" y="1483920"/>
            <a:ext cx="3355200" cy="900000"/>
          </a:xfrm>
          <a:prstGeom prst="rect">
            <a:avLst/>
          </a:prstGeom>
          <a:ln w="0">
            <a:noFill/>
          </a:ln>
        </p:spPr>
      </p:pic>
      <p:pic>
        <p:nvPicPr>
          <p:cNvPr id="55" name="Picture 17" descr=""/>
          <p:cNvPicPr/>
          <p:nvPr/>
        </p:nvPicPr>
        <p:blipFill>
          <a:blip r:embed="rId2"/>
          <a:stretch/>
        </p:blipFill>
        <p:spPr>
          <a:xfrm>
            <a:off x="2691720" y="2971800"/>
            <a:ext cx="3756960" cy="521280"/>
          </a:xfrm>
          <a:prstGeom prst="rect">
            <a:avLst/>
          </a:prstGeom>
          <a:ln w="0">
            <a:noFill/>
          </a:ln>
        </p:spPr>
      </p:pic>
      <p:pic>
        <p:nvPicPr>
          <p:cNvPr id="56" name="Picture 18" descr=""/>
          <p:cNvPicPr/>
          <p:nvPr/>
        </p:nvPicPr>
        <p:blipFill>
          <a:blip r:embed="rId3"/>
          <a:srcRect l="5067" t="15739" r="5621" b="18131"/>
          <a:stretch/>
        </p:blipFill>
        <p:spPr>
          <a:xfrm>
            <a:off x="1141200" y="4035240"/>
            <a:ext cx="1793520" cy="530640"/>
          </a:xfrm>
          <a:prstGeom prst="rect">
            <a:avLst/>
          </a:prstGeom>
          <a:ln w="0">
            <a:noFill/>
          </a:ln>
        </p:spPr>
      </p:pic>
      <p:pic>
        <p:nvPicPr>
          <p:cNvPr id="57" name="Picture 19" descr=""/>
          <p:cNvPicPr/>
          <p:nvPr/>
        </p:nvPicPr>
        <p:blipFill>
          <a:blip r:embed="rId4"/>
          <a:stretch/>
        </p:blipFill>
        <p:spPr>
          <a:xfrm>
            <a:off x="3147840" y="4154400"/>
            <a:ext cx="629280" cy="292680"/>
          </a:xfrm>
          <a:prstGeom prst="rect">
            <a:avLst/>
          </a:prstGeom>
          <a:ln w="0">
            <a:noFill/>
          </a:ln>
        </p:spPr>
      </p:pic>
      <p:pic>
        <p:nvPicPr>
          <p:cNvPr id="58" name="Picture 20" descr=""/>
          <p:cNvPicPr/>
          <p:nvPr/>
        </p:nvPicPr>
        <p:blipFill>
          <a:blip r:embed="rId5"/>
          <a:stretch/>
        </p:blipFill>
        <p:spPr>
          <a:xfrm>
            <a:off x="5996160" y="4141800"/>
            <a:ext cx="1191600" cy="215640"/>
          </a:xfrm>
          <a:prstGeom prst="rect">
            <a:avLst/>
          </a:prstGeom>
          <a:ln w="0">
            <a:noFill/>
          </a:ln>
        </p:spPr>
      </p:pic>
      <p:cxnSp>
        <p:nvCxnSpPr>
          <p:cNvPr id="59" name="Straight Connector 29"/>
          <p:cNvCxnSpPr/>
          <p:nvPr/>
        </p:nvCxnSpPr>
        <p:spPr>
          <a:xfrm>
            <a:off x="5181840" y="3948840"/>
            <a:ext cx="2743560" cy="6480"/>
          </a:xfrm>
          <a:prstGeom prst="straightConnector1">
            <a:avLst/>
          </a:prstGeom>
          <a:ln>
            <a:solidFill>
              <a:srgbClr val="ffffff">
                <a:lumMod val="85000"/>
              </a:srgbClr>
            </a:solidFill>
            <a:round/>
          </a:ln>
        </p:spPr>
      </p:cxnSp>
      <p:sp>
        <p:nvSpPr>
          <p:cNvPr id="60" name="TextBox 30"/>
          <p:cNvSpPr/>
          <p:nvPr/>
        </p:nvSpPr>
        <p:spPr>
          <a:xfrm>
            <a:off x="5974920" y="3816360"/>
            <a:ext cx="1282320" cy="24444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defTabSz="685800">
              <a:lnSpc>
                <a:spcPct val="100000"/>
              </a:lnSpc>
            </a:pPr>
            <a:r>
              <a:rPr b="1" lang="en-US" sz="1010" spc="-1" strike="noStrike">
                <a:solidFill>
                  <a:schemeClr val="dk1"/>
                </a:solidFill>
                <a:latin typeface="Segoe UI Semibold"/>
              </a:rPr>
              <a:t>Other Sponsor</a:t>
            </a:r>
            <a:endParaRPr b="0" lang="en-US" sz="1010" spc="-1" strike="noStrike">
              <a:solidFill>
                <a:srgbClr val="000000"/>
              </a:solidFill>
              <a:latin typeface="Arial"/>
            </a:endParaRPr>
          </a:p>
        </p:txBody>
      </p:sp>
      <p:pic>
        <p:nvPicPr>
          <p:cNvPr id="61" name="Picture 2" descr=""/>
          <p:cNvPicPr/>
          <p:nvPr/>
        </p:nvPicPr>
        <p:blipFill>
          <a:blip r:embed="rId6"/>
          <a:srcRect l="61717" t="18012" r="4139" b="13871"/>
          <a:stretch/>
        </p:blipFill>
        <p:spPr>
          <a:xfrm>
            <a:off x="5332320" y="1444680"/>
            <a:ext cx="2212560" cy="10965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About Me</a:t>
            </a:r>
            <a:endParaRPr b="0" lang="en-US" sz="2800" spc="-1" strike="noStrike">
              <a:solidFill>
                <a:srgbClr val="000000"/>
              </a:solidFill>
              <a:latin typeface="Arial"/>
            </a:endParaRPr>
          </a:p>
        </p:txBody>
      </p:sp>
      <p:sp>
        <p:nvSpPr>
          <p:cNvPr id="63" name="PlaceHolder 2"/>
          <p:cNvSpPr>
            <a:spLocks noGrp="1"/>
          </p:cNvSpPr>
          <p:nvPr>
            <p:ph/>
          </p:nvPr>
        </p:nvSpPr>
        <p:spPr>
          <a:xfrm>
            <a:off x="311760" y="929880"/>
            <a:ext cx="8520120" cy="4002480"/>
          </a:xfrm>
          <a:prstGeom prst="rect">
            <a:avLst/>
          </a:prstGeom>
          <a:noFill/>
          <a:ln w="0">
            <a:noFill/>
          </a:ln>
        </p:spPr>
        <p:txBody>
          <a:bodyPr lIns="91440" rIns="91440" tIns="91440" bIns="91440" anchor="t">
            <a:normAutofit fontScale="27777"/>
          </a:bodyPr>
          <a:p>
            <a:pPr indent="0">
              <a:lnSpc>
                <a:spcPct val="200000"/>
              </a:lnSpc>
              <a:buNone/>
              <a:tabLst>
                <a:tab algn="l" pos="0"/>
              </a:tabLst>
            </a:pPr>
            <a:endParaRPr b="0" lang="en-US" sz="1800" spc="-1" strike="noStrike">
              <a:solidFill>
                <a:srgbClr val="000000"/>
              </a:solidFill>
              <a:latin typeface="Arial"/>
            </a:endParaRPr>
          </a:p>
          <a:p>
            <a:pPr marL="457200" indent="0">
              <a:lnSpc>
                <a:spcPct val="200000"/>
              </a:lnSpc>
              <a:spcBef>
                <a:spcPts val="1199"/>
              </a:spcBef>
              <a:buNone/>
              <a:tabLst>
                <a:tab algn="l" pos="0"/>
              </a:tabLst>
            </a:pPr>
            <a:r>
              <a:rPr b="0" lang="en" sz="7000" spc="-1" strike="noStrike">
                <a:solidFill>
                  <a:schemeClr val="dk2"/>
                </a:solidFill>
                <a:latin typeface="Arial"/>
                <a:ea typeface="Arial"/>
              </a:rPr>
              <a:t>Entered I.T. in Feb 2008</a:t>
            </a:r>
            <a:endParaRPr b="0" lang="en-US" sz="7000" spc="-1" strike="noStrike">
              <a:solidFill>
                <a:srgbClr val="000000"/>
              </a:solidFill>
              <a:latin typeface="Arial"/>
            </a:endParaRPr>
          </a:p>
          <a:p>
            <a:pPr marL="457200" indent="0">
              <a:lnSpc>
                <a:spcPct val="200000"/>
              </a:lnSpc>
              <a:spcBef>
                <a:spcPts val="1199"/>
              </a:spcBef>
              <a:buNone/>
              <a:tabLst>
                <a:tab algn="l" pos="0"/>
              </a:tabLst>
            </a:pPr>
            <a:r>
              <a:rPr b="0" lang="en" sz="7000" spc="-1" strike="noStrike">
                <a:solidFill>
                  <a:schemeClr val="dk2"/>
                </a:solidFill>
                <a:latin typeface="Arial"/>
                <a:ea typeface="Arial"/>
              </a:rPr>
              <a:t>MCTS SQL Server 2008 Implementation and Maintenance in May 2013</a:t>
            </a:r>
            <a:endParaRPr b="0" lang="en-US" sz="7000" spc="-1" strike="noStrike">
              <a:solidFill>
                <a:srgbClr val="000000"/>
              </a:solidFill>
              <a:latin typeface="Arial"/>
            </a:endParaRPr>
          </a:p>
          <a:p>
            <a:pPr marL="457200" indent="0">
              <a:lnSpc>
                <a:spcPct val="200000"/>
              </a:lnSpc>
              <a:spcBef>
                <a:spcPts val="1199"/>
              </a:spcBef>
              <a:buNone/>
              <a:tabLst>
                <a:tab algn="l" pos="0"/>
              </a:tabLst>
            </a:pPr>
            <a:r>
              <a:rPr b="0" lang="en" sz="7000" spc="-1" strike="noStrike">
                <a:solidFill>
                  <a:schemeClr val="dk2"/>
                </a:solidFill>
                <a:latin typeface="Arial"/>
                <a:ea typeface="Arial"/>
              </a:rPr>
              <a:t>Azure Fundamentals and Azure Database Fundamentals Spring 2021</a:t>
            </a:r>
            <a:endParaRPr b="0" lang="en-US" sz="7000" spc="-1" strike="noStrike">
              <a:solidFill>
                <a:srgbClr val="000000"/>
              </a:solidFill>
              <a:latin typeface="Arial"/>
            </a:endParaRPr>
          </a:p>
          <a:p>
            <a:pPr marL="457200" indent="0">
              <a:lnSpc>
                <a:spcPct val="200000"/>
              </a:lnSpc>
              <a:spcBef>
                <a:spcPts val="1199"/>
              </a:spcBef>
              <a:buNone/>
              <a:tabLst>
                <a:tab algn="l" pos="0"/>
              </a:tabLst>
            </a:pPr>
            <a:r>
              <a:rPr b="0" lang="en" sz="7000" spc="-1" strike="noStrike">
                <a:solidFill>
                  <a:schemeClr val="dk2"/>
                </a:solidFill>
                <a:latin typeface="Arial"/>
                <a:ea typeface="Arial"/>
              </a:rPr>
              <a:t>DBA since 2014</a:t>
            </a:r>
            <a:endParaRPr b="0" lang="en-US" sz="7000" spc="-1" strike="noStrike">
              <a:solidFill>
                <a:srgbClr val="000000"/>
              </a:solidFill>
              <a:latin typeface="Arial"/>
            </a:endParaRPr>
          </a:p>
          <a:p>
            <a:pPr marL="457200" indent="0">
              <a:lnSpc>
                <a:spcPct val="200000"/>
              </a:lnSpc>
              <a:spcBef>
                <a:spcPts val="1199"/>
              </a:spcBef>
              <a:buNone/>
              <a:tabLst>
                <a:tab algn="l" pos="0"/>
              </a:tabLst>
            </a:pPr>
            <a:r>
              <a:rPr b="0" lang="en" sz="7000" spc="-1" strike="noStrike">
                <a:solidFill>
                  <a:schemeClr val="dk2"/>
                </a:solidFill>
                <a:latin typeface="Arial"/>
                <a:ea typeface="Arial"/>
              </a:rPr>
              <a:t>Currently a Sr. DBA Consultant working for The SERO Group</a:t>
            </a:r>
            <a:endParaRPr b="0" lang="en-US" sz="7000" spc="-1" strike="noStrike">
              <a:solidFill>
                <a:srgbClr val="000000"/>
              </a:solidFill>
              <a:latin typeface="Arial"/>
            </a:endParaRPr>
          </a:p>
          <a:p>
            <a:pPr indent="0">
              <a:lnSpc>
                <a:spcPct val="200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Contact Info/Slides</a:t>
            </a:r>
            <a:endParaRPr b="0" lang="en-US" sz="2800" spc="-1" strike="noStrike">
              <a:solidFill>
                <a:srgbClr val="000000"/>
              </a:solidFill>
              <a:latin typeface="Arial"/>
            </a:endParaRPr>
          </a:p>
        </p:txBody>
      </p:sp>
      <p:sp>
        <p:nvSpPr>
          <p:cNvPr id="6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0">
              <a:lnSpc>
                <a:spcPct val="200000"/>
              </a:lnSpc>
              <a:spcBef>
                <a:spcPts val="1199"/>
              </a:spcBef>
              <a:buNone/>
              <a:tabLst>
                <a:tab algn="l" pos="0"/>
              </a:tabLst>
            </a:pPr>
            <a:r>
              <a:rPr b="0" lang="en" sz="1800" spc="-1" strike="noStrike">
                <a:solidFill>
                  <a:schemeClr val="dk2"/>
                </a:solidFill>
                <a:latin typeface="Arial"/>
                <a:ea typeface="Arial"/>
              </a:rPr>
              <a:t>Blog at </a:t>
            </a:r>
            <a:r>
              <a:rPr b="0" lang="en" sz="1800" spc="-1" strike="noStrike" u="sng">
                <a:solidFill>
                  <a:srgbClr val="0097a7"/>
                </a:solidFill>
                <a:uFillTx/>
                <a:latin typeface="Arial"/>
                <a:ea typeface="Arial"/>
                <a:hlinkClick r:id="rId1"/>
              </a:rPr>
              <a:t>https://leemarkum.com</a:t>
            </a:r>
            <a:r>
              <a:rPr b="0" lang="en" sz="1800" spc="-1" strike="noStrike">
                <a:solidFill>
                  <a:schemeClr val="dk2"/>
                </a:solidFill>
                <a:latin typeface="Arial"/>
                <a:ea typeface="Arial"/>
              </a:rPr>
              <a:t> </a:t>
            </a:r>
            <a:endParaRPr b="0" lang="en-US" sz="1800" spc="-1" strike="noStrike">
              <a:solidFill>
                <a:srgbClr val="000000"/>
              </a:solidFill>
              <a:latin typeface="Arial"/>
            </a:endParaRPr>
          </a:p>
          <a:p>
            <a:pPr marL="457200" indent="0">
              <a:lnSpc>
                <a:spcPct val="200000"/>
              </a:lnSpc>
              <a:spcBef>
                <a:spcPts val="1199"/>
              </a:spcBef>
              <a:buNone/>
              <a:tabLst>
                <a:tab algn="l" pos="0"/>
              </a:tabLst>
            </a:pPr>
            <a:r>
              <a:rPr b="0" lang="en" sz="1800" spc="-1" strike="noStrike" u="sng">
                <a:solidFill>
                  <a:schemeClr val="dk2"/>
                </a:solidFill>
                <a:uFillTx/>
                <a:latin typeface="Arial"/>
                <a:ea typeface="Arial"/>
                <a:hlinkClick r:id="rId2"/>
              </a:rPr>
              <a:t>Email:</a:t>
            </a:r>
            <a:r>
              <a:rPr b="0" lang="en" sz="1800" spc="-1" strike="noStrike" u="sng">
                <a:solidFill>
                  <a:schemeClr val="hlink"/>
                </a:solidFill>
                <a:uFillTx/>
                <a:latin typeface="Arial"/>
                <a:ea typeface="Arial"/>
                <a:hlinkClick r:id="rId3"/>
              </a:rPr>
              <a:t>lmarkum@live.com</a:t>
            </a:r>
            <a:endParaRPr b="0" lang="en-US" sz="1800" spc="-1" strike="noStrike">
              <a:solidFill>
                <a:srgbClr val="000000"/>
              </a:solidFill>
              <a:latin typeface="Arial"/>
            </a:endParaRPr>
          </a:p>
          <a:p>
            <a:pPr marL="457200" indent="0">
              <a:lnSpc>
                <a:spcPct val="200000"/>
              </a:lnSpc>
              <a:spcBef>
                <a:spcPts val="1199"/>
              </a:spcBef>
              <a:buNone/>
              <a:tabLst>
                <a:tab algn="l" pos="0"/>
              </a:tabLst>
            </a:pPr>
            <a:r>
              <a:rPr b="0" lang="en" sz="1800" spc="-1" strike="noStrike" u="sng">
                <a:solidFill>
                  <a:srgbClr val="0097a7"/>
                </a:solidFill>
                <a:uFillTx/>
                <a:latin typeface="Arial"/>
                <a:ea typeface="Arial"/>
                <a:hlinkClick r:id="rId4"/>
              </a:rPr>
              <a:t>https://github.com/lmarkum</a:t>
            </a:r>
            <a:r>
              <a:rPr b="0" lang="en" sz="1800" spc="-1" strike="noStrike">
                <a:solidFill>
                  <a:srgbClr val="595959"/>
                </a:solidFill>
                <a:latin typeface="Arial"/>
                <a:ea typeface="Arial"/>
              </a:rPr>
              <a:t> </a:t>
            </a:r>
            <a:endParaRPr b="0" lang="en-US" sz="1800" spc="-1" strike="noStrike">
              <a:solidFill>
                <a:srgbClr val="000000"/>
              </a:solidFill>
              <a:latin typeface="Arial"/>
            </a:endParaRPr>
          </a:p>
          <a:p>
            <a:pPr indent="0">
              <a:lnSpc>
                <a:spcPct val="200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Agenda</a:t>
            </a:r>
            <a:endParaRPr b="0" lang="en-US" sz="2800" spc="-1" strike="noStrike">
              <a:solidFill>
                <a:srgbClr val="000000"/>
              </a:solidFill>
              <a:latin typeface="Arial"/>
            </a:endParaRPr>
          </a:p>
        </p:txBody>
      </p:sp>
      <p:sp>
        <p:nvSpPr>
          <p:cNvPr id="67"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200000"/>
              </a:lnSpc>
              <a:buNone/>
              <a:tabLst>
                <a:tab algn="l" pos="0"/>
              </a:tabLst>
            </a:pPr>
            <a:endParaRPr b="0" lang="en-US" sz="1800" spc="-1" strike="noStrike">
              <a:solidFill>
                <a:srgbClr val="000000"/>
              </a:solidFill>
              <a:latin typeface="Arial"/>
            </a:endParaRPr>
          </a:p>
          <a:p>
            <a:pPr marL="457200" indent="-343080">
              <a:lnSpc>
                <a:spcPct val="200000"/>
              </a:lnSpc>
              <a:spcBef>
                <a:spcPts val="1199"/>
              </a:spcBef>
              <a:buClr>
                <a:srgbClr val="595959"/>
              </a:buClr>
              <a:buFont typeface="Arial"/>
              <a:buChar char="●"/>
              <a:tabLst>
                <a:tab algn="l" pos="0"/>
              </a:tabLst>
            </a:pPr>
            <a:r>
              <a:rPr b="0" lang="en" sz="1800" spc="-1" strike="noStrike">
                <a:solidFill>
                  <a:schemeClr val="dk2"/>
                </a:solidFill>
                <a:latin typeface="Arial"/>
                <a:ea typeface="Arial"/>
              </a:rPr>
              <a:t>Server/Instance Level Settings</a:t>
            </a:r>
            <a:endParaRPr b="0" lang="en-US" sz="1800" spc="-1" strike="noStrike">
              <a:solidFill>
                <a:srgbClr val="000000"/>
              </a:solidFill>
              <a:latin typeface="Arial"/>
            </a:endParaRPr>
          </a:p>
          <a:p>
            <a:pPr indent="0">
              <a:lnSpc>
                <a:spcPct val="200000"/>
              </a:lnSpc>
              <a:spcBef>
                <a:spcPts val="1199"/>
              </a:spcBef>
              <a:buNone/>
              <a:tabLst>
                <a:tab algn="l" pos="0"/>
              </a:tabLst>
            </a:pPr>
            <a:endParaRPr b="0" lang="en-US" sz="1800" spc="-1" strike="noStrike">
              <a:solidFill>
                <a:srgbClr val="000000"/>
              </a:solidFill>
              <a:latin typeface="Arial"/>
            </a:endParaRPr>
          </a:p>
          <a:p>
            <a:pPr marL="457200" indent="-343080">
              <a:lnSpc>
                <a:spcPct val="200000"/>
              </a:lnSpc>
              <a:spcBef>
                <a:spcPts val="1199"/>
              </a:spcBef>
              <a:buClr>
                <a:srgbClr val="595959"/>
              </a:buClr>
              <a:buFont typeface="Arial"/>
              <a:buChar char="●"/>
              <a:tabLst>
                <a:tab algn="l" pos="0"/>
              </a:tabLst>
            </a:pPr>
            <a:r>
              <a:rPr b="0" lang="en" sz="1800" spc="-1" strike="noStrike">
                <a:solidFill>
                  <a:schemeClr val="dk2"/>
                </a:solidFill>
                <a:latin typeface="Arial"/>
                <a:ea typeface="Arial"/>
              </a:rPr>
              <a:t>Database Level Settings</a:t>
            </a:r>
            <a:endParaRPr b="0" lang="en-US" sz="1800" spc="-1" strike="noStrike">
              <a:solidFill>
                <a:srgbClr val="000000"/>
              </a:solidFill>
              <a:latin typeface="Arial"/>
            </a:endParaRPr>
          </a:p>
          <a:p>
            <a:pPr indent="0">
              <a:lnSpc>
                <a:spcPct val="200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6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MAXDOP</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71"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You're going to make a single cake together!</a:t>
            </a: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Eggs - Durham     Butter - 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Flour - Durham     Baking Powder – </a:t>
            </a:r>
            <a:r>
              <a:rPr b="0"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Milk - </a:t>
            </a:r>
            <a:r>
              <a:rPr b="0" lang="en" sz="1800" spc="-1" strike="noStrike">
                <a:solidFill>
                  <a:schemeClr val="dk2"/>
                </a:solidFill>
                <a:latin typeface="Arial"/>
                <a:ea typeface="Arial"/>
              </a:rPr>
              <a:t>Durham       Vanilla – Durham</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Sugar - </a:t>
            </a:r>
            <a:r>
              <a:rPr b="0" lang="en" sz="1800" spc="-1" strike="noStrike">
                <a:solidFill>
                  <a:schemeClr val="dk2"/>
                </a:solidFill>
                <a:latin typeface="Arial"/>
                <a:ea typeface="Arial"/>
              </a:rPr>
              <a:t>Durham      Salt - Durham</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73"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You're going to make a single cake together!</a:t>
            </a: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Maxdop set to use all cpu - </a:t>
            </a: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Socket 1 – Local memory Durham  Socket 2 – Local Memory </a:t>
            </a:r>
            <a:r>
              <a:rPr b="1"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Eggs - </a:t>
            </a:r>
            <a:r>
              <a:rPr b="0" lang="en" sz="1800" spc="-1" strike="noStrike">
                <a:solidFill>
                  <a:schemeClr val="dk2"/>
                </a:solidFill>
                <a:latin typeface="Arial"/>
                <a:ea typeface="Arial"/>
              </a:rPr>
              <a:t>Durham           Butter - 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Flour - Durham           Baking Powder – </a:t>
            </a:r>
            <a:r>
              <a:rPr b="0"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Milk - Durham               Vanilla – </a:t>
            </a:r>
            <a:r>
              <a:rPr b="1" lang="en" sz="1800" spc="-1" strike="noStrike">
                <a:solidFill>
                  <a:schemeClr val="dk2"/>
                </a:solidFill>
                <a:latin typeface="Arial"/>
                <a:ea typeface="Arial"/>
              </a:rPr>
              <a:t>Durham</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Sugar - Durham            Salt - </a:t>
            </a:r>
            <a:r>
              <a:rPr b="1" lang="en" sz="1800" spc="-1" strike="noStrike">
                <a:solidFill>
                  <a:schemeClr val="dk2"/>
                </a:solidFill>
                <a:latin typeface="Arial"/>
                <a:ea typeface="Arial"/>
              </a:rPr>
              <a:t>Durham</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Buttons Levers and Dials</a:t>
            </a:r>
            <a:endParaRPr b="0" lang="en-US" sz="2800" spc="-1" strike="noStrike">
              <a:solidFill>
                <a:srgbClr val="000000"/>
              </a:solidFill>
              <a:latin typeface="Arial"/>
            </a:endParaRPr>
          </a:p>
        </p:txBody>
      </p:sp>
      <p:sp>
        <p:nvSpPr>
          <p:cNvPr id="7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Server/Instance Level Settings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77"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MAXDOP</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This setting controls how many CPU cores are used when a query goes parallel</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The default setting is zero, which lets SQL Server use all available cores</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The MAXDOP limit is set per task. Each request/session can start multiple tasks</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79"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29" spc="-1" strike="noStrike">
                <a:solidFill>
                  <a:schemeClr val="dk2"/>
                </a:solidFill>
                <a:latin typeface="Arial"/>
                <a:ea typeface="Arial"/>
              </a:rPr>
              <a:t>MAXDOP</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NUMA: </a:t>
            </a:r>
            <a:r>
              <a:rPr b="0" lang="en" sz="1829" spc="-1" strike="noStrike" u="sng">
                <a:solidFill>
                  <a:schemeClr val="hlink"/>
                </a:solidFill>
                <a:uFillTx/>
                <a:latin typeface="Arial"/>
                <a:ea typeface="Arial"/>
                <a:hlinkClick r:id="rId1"/>
              </a:rPr>
              <a:t>https://bit.ly/4kkVGbv</a:t>
            </a:r>
            <a:r>
              <a:rPr b="0" lang="en" sz="1829" spc="-1" strike="noStrike">
                <a:solidFill>
                  <a:schemeClr val="dk2"/>
                </a:solidFill>
                <a:latin typeface="Arial"/>
                <a:ea typeface="Arial"/>
              </a:rPr>
              <a:t> What Is Non-Uniform Memory Access (NUMA)? | IDERA </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a:t>
            </a:r>
            <a:r>
              <a:rPr b="0" lang="en" sz="1829" spc="-1" strike="noStrike">
                <a:solidFill>
                  <a:schemeClr val="dk2"/>
                </a:solidFill>
                <a:latin typeface="Arial"/>
                <a:ea typeface="Arial"/>
              </a:rPr>
              <a:t>Each physical socket and its directly attached RAM is known as a node hence a two-socket computer would have two NUMA nodes, a four socket would have four NUMA nodes, etc.”</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81"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29" spc="-1" strike="noStrike">
                <a:solidFill>
                  <a:schemeClr val="dk2"/>
                </a:solidFill>
                <a:latin typeface="Arial"/>
                <a:ea typeface="Arial"/>
              </a:rPr>
              <a:t>MAXDOP: Image from </a:t>
            </a:r>
            <a:r>
              <a:rPr b="0" lang="en" sz="1829" spc="-1" strike="noStrike" u="sng">
                <a:solidFill>
                  <a:schemeClr val="hlink"/>
                </a:solidFill>
                <a:uFillTx/>
                <a:latin typeface="Arial"/>
                <a:ea typeface="Arial"/>
                <a:hlinkClick r:id="rId1"/>
              </a:rPr>
              <a:t>https://bit.ly/3HBOrxj</a:t>
            </a:r>
            <a:r>
              <a:rPr b="0" lang="en" sz="1829" spc="-1" strike="noStrike">
                <a:solidFill>
                  <a:schemeClr val="dk2"/>
                </a:solidFill>
                <a:latin typeface="Arial"/>
                <a:ea typeface="Arial"/>
              </a:rPr>
              <a:t>  Understanding Non-Uniform Memory Access/Architectures (NUMA) - Jonathan Kehayias</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pic>
        <p:nvPicPr>
          <p:cNvPr id="82" name="Google Shape;98;p20" descr=""/>
          <p:cNvPicPr/>
          <p:nvPr/>
        </p:nvPicPr>
        <p:blipFill>
          <a:blip r:embed="rId2"/>
          <a:stretch/>
        </p:blipFill>
        <p:spPr>
          <a:xfrm>
            <a:off x="756000" y="1743480"/>
            <a:ext cx="7257600" cy="35431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84"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29" spc="-1" strike="noStrike">
                <a:solidFill>
                  <a:schemeClr val="dk2"/>
                </a:solidFill>
                <a:latin typeface="Arial"/>
                <a:ea typeface="Arial"/>
              </a:rPr>
              <a:t>MAXDOP</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MS Recommendation on MAXDOP: </a:t>
            </a:r>
            <a:r>
              <a:rPr b="0" lang="en" sz="1829" spc="-1" strike="noStrike" u="sng">
                <a:solidFill>
                  <a:schemeClr val="hlink"/>
                </a:solidFill>
                <a:uFillTx/>
                <a:latin typeface="Arial"/>
                <a:ea typeface="Arial"/>
                <a:hlinkClick r:id="rId1"/>
              </a:rPr>
              <a:t>https://bit.ly/3HhGb5N</a:t>
            </a:r>
            <a:r>
              <a:rPr b="0" lang="en" sz="1829" spc="-1" strike="noStrike">
                <a:solidFill>
                  <a:schemeClr val="dk2"/>
                </a:solidFill>
                <a:latin typeface="Arial"/>
                <a:ea typeface="Arial"/>
              </a:rPr>
              <a:t> </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Two recommendations: </a:t>
            </a: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SQL Server 2014 and older</a:t>
            </a:r>
            <a:endParaRPr b="0" lang="en-US" sz="1829" spc="-1" strike="noStrike">
              <a:solidFill>
                <a:srgbClr val="000000"/>
              </a:solidFill>
              <a:latin typeface="Arial"/>
            </a:endParaRPr>
          </a:p>
          <a:p>
            <a:pPr indent="0">
              <a:lnSpc>
                <a:spcPct val="95000"/>
              </a:lnSpc>
              <a:spcBef>
                <a:spcPts val="1199"/>
              </a:spcBef>
              <a:buNone/>
              <a:tabLst>
                <a:tab algn="l" pos="0"/>
              </a:tabLst>
            </a:pPr>
            <a:r>
              <a:rPr b="0" lang="en" sz="1829" spc="-1" strike="noStrike">
                <a:solidFill>
                  <a:schemeClr val="dk2"/>
                </a:solidFill>
                <a:latin typeface="Arial"/>
                <a:ea typeface="Arial"/>
              </a:rPr>
              <a:t>SQL Server 2016 and newer</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86"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29" spc="-1" strike="noStrike">
                <a:solidFill>
                  <a:schemeClr val="dk2"/>
                </a:solidFill>
                <a:latin typeface="Arial"/>
                <a:ea typeface="Arial"/>
              </a:rPr>
              <a:t>MAXDOP - SQL Server 2014 and older: </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pic>
        <p:nvPicPr>
          <p:cNvPr id="87" name="Google Shape;111;p22" descr=""/>
          <p:cNvPicPr/>
          <p:nvPr/>
        </p:nvPicPr>
        <p:blipFill>
          <a:blip r:embed="rId1"/>
          <a:stretch/>
        </p:blipFill>
        <p:spPr>
          <a:xfrm>
            <a:off x="767160" y="1583640"/>
            <a:ext cx="8143560" cy="27903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89"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29" spc="-1" strike="noStrike">
                <a:solidFill>
                  <a:schemeClr val="dk2"/>
                </a:solidFill>
                <a:latin typeface="Arial"/>
                <a:ea typeface="Arial"/>
              </a:rPr>
              <a:t>MAXDOP - SQL Server 2016 and older</a:t>
            </a: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pic>
        <p:nvPicPr>
          <p:cNvPr id="90" name="Google Shape;118;p23" descr=""/>
          <p:cNvPicPr/>
          <p:nvPr/>
        </p:nvPicPr>
        <p:blipFill>
          <a:blip r:embed="rId1"/>
          <a:stretch/>
        </p:blipFill>
        <p:spPr>
          <a:xfrm>
            <a:off x="812880" y="1637640"/>
            <a:ext cx="8143560" cy="3362040"/>
          </a:xfrm>
          <a:prstGeom prst="rect">
            <a:avLst/>
          </a:prstGeom>
          <a:ln w="0">
            <a:noFill/>
          </a:ln>
        </p:spPr>
      </p:pic>
      <p:cxnSp>
        <p:nvCxnSpPr>
          <p:cNvPr id="91" name="Google Shape;119;p23"/>
          <p:cNvCxnSpPr/>
          <p:nvPr/>
        </p:nvCxnSpPr>
        <p:spPr>
          <a:xfrm flipH="1">
            <a:off x="4519440" y="3037320"/>
            <a:ext cx="426240" cy="403920"/>
          </a:xfrm>
          <a:prstGeom prst="straightConnector1">
            <a:avLst/>
          </a:prstGeom>
          <a:ln w="9525">
            <a:solidFill>
              <a:srgbClr val="595959"/>
            </a:solidFill>
            <a:round/>
            <a:tailEnd len="med" type="triangle" w="med"/>
          </a:ln>
        </p:spPr>
      </p:cxnSp>
      <p:cxnSp>
        <p:nvCxnSpPr>
          <p:cNvPr id="92" name="Google Shape;120;p23"/>
          <p:cNvCxnSpPr/>
          <p:nvPr/>
        </p:nvCxnSpPr>
        <p:spPr>
          <a:xfrm flipH="1">
            <a:off x="4519440" y="3494520"/>
            <a:ext cx="426240" cy="403920"/>
          </a:xfrm>
          <a:prstGeom prst="straightConnector1">
            <a:avLst/>
          </a:prstGeom>
          <a:ln w="9525">
            <a:solidFill>
              <a:srgbClr val="595959"/>
            </a:solidFill>
            <a:round/>
            <a:tailEnd len="med" type="triangle" w="med"/>
          </a:ln>
        </p:spPr>
      </p:cxnSp>
      <p:cxnSp>
        <p:nvCxnSpPr>
          <p:cNvPr id="93" name="Google Shape;121;p23"/>
          <p:cNvCxnSpPr/>
          <p:nvPr/>
        </p:nvCxnSpPr>
        <p:spPr>
          <a:xfrm flipH="1">
            <a:off x="8530920" y="3440880"/>
            <a:ext cx="425880" cy="403920"/>
          </a:xfrm>
          <a:prstGeom prst="straightConnector1">
            <a:avLst/>
          </a:prstGeom>
          <a:ln w="9525">
            <a:solidFill>
              <a:srgbClr val="595959"/>
            </a:solidFill>
            <a:round/>
            <a:tailEnd len="med" type="triangle" w="med"/>
          </a:ln>
        </p:spPr>
      </p:cxn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95"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You're going to make a single cake together!</a:t>
            </a: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2 NUMA Nodes w/4 "cores" each, but MAXDOP is set to 8 when it should be 4</a:t>
            </a:r>
            <a:endParaRPr b="0" lang="en-US" sz="1800" spc="-1" strike="noStrike">
              <a:solidFill>
                <a:srgbClr val="000000"/>
              </a:solidFill>
              <a:latin typeface="Arial"/>
            </a:endParaRPr>
          </a:p>
          <a:p>
            <a:pPr indent="0">
              <a:lnSpc>
                <a:spcPct val="95000"/>
              </a:lnSpc>
              <a:buNone/>
              <a:tabLst>
                <a:tab algn="l" pos="0"/>
              </a:tabLst>
            </a:pP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Socket 1 – Local memory Durham  Socket 2 – Local Memory </a:t>
            </a:r>
            <a:r>
              <a:rPr b="1"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Eggs - Durham           Butter - </a:t>
            </a:r>
            <a:r>
              <a:rPr b="0"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Flour - Durham           Baking Powder – </a:t>
            </a:r>
            <a:r>
              <a:rPr b="0" lang="en" sz="1800" spc="-1" strike="noStrike">
                <a:solidFill>
                  <a:schemeClr val="dk2"/>
                </a:solidFill>
                <a:latin typeface="Arial"/>
                <a:ea typeface="Arial"/>
              </a:rPr>
              <a:t>Raleigh</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Milk - Durham             Vanilla – </a:t>
            </a:r>
            <a:r>
              <a:rPr b="1" lang="en" sz="1800" spc="-1" strike="noStrike">
                <a:solidFill>
                  <a:schemeClr val="dk2"/>
                </a:solidFill>
                <a:latin typeface="Arial"/>
                <a:ea typeface="Arial"/>
              </a:rPr>
              <a:t>Durham</a:t>
            </a:r>
            <a:endParaRPr b="0" lang="en-US" sz="1800" spc="-1" strike="noStrike">
              <a:solidFill>
                <a:srgbClr val="000000"/>
              </a:solidFill>
              <a:latin typeface="Arial"/>
            </a:endParaRPr>
          </a:p>
          <a:p>
            <a:pPr indent="0">
              <a:lnSpc>
                <a:spcPct val="95000"/>
              </a:lnSpc>
              <a:buNone/>
              <a:tabLst>
                <a:tab algn="l" pos="0"/>
              </a:tabLst>
            </a:pPr>
            <a:r>
              <a:rPr b="0" lang="en" sz="1800" spc="-1" strike="noStrike">
                <a:solidFill>
                  <a:schemeClr val="dk2"/>
                </a:solidFill>
                <a:latin typeface="Arial"/>
                <a:ea typeface="Arial"/>
              </a:rPr>
              <a:t>Sugar - Durham            Salt - </a:t>
            </a:r>
            <a:r>
              <a:rPr b="1" lang="en" sz="1800" spc="-1" strike="noStrike">
                <a:solidFill>
                  <a:schemeClr val="dk2"/>
                </a:solidFill>
                <a:latin typeface="Arial"/>
                <a:ea typeface="Arial"/>
              </a:rPr>
              <a:t>Durham</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97"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MAXDOP</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How can you see NUMA and CPU/Core Count?</a:t>
            </a:r>
            <a:endParaRPr b="0" lang="en-US" sz="1800" spc="-1" strike="noStrike">
              <a:solidFill>
                <a:srgbClr val="000000"/>
              </a:solidFill>
              <a:latin typeface="Arial"/>
            </a:endParaRPr>
          </a:p>
          <a:p>
            <a:pPr indent="0">
              <a:lnSpc>
                <a:spcPct val="95000"/>
              </a:lnSpc>
              <a:spcBef>
                <a:spcPts val="1199"/>
              </a:spcBef>
              <a:buNone/>
              <a:tabLst>
                <a:tab algn="l" pos="0"/>
              </a:tabLst>
            </a:pPr>
            <a:r>
              <a:rPr b="0" lang="en-US" sz="1800" spc="-1" strike="noStrike">
                <a:solidFill>
                  <a:schemeClr val="dk2"/>
                </a:solidFill>
                <a:latin typeface="Arial"/>
                <a:ea typeface="Arial"/>
              </a:rPr>
              <a:t>SELECT n.node_id,                      -- NUMA node identifier</a:t>
            </a:r>
            <a:endParaRPr b="0" lang="en-US" sz="1800" spc="-1" strike="noStrike">
              <a:solidFill>
                <a:srgbClr val="000000"/>
              </a:solidFill>
              <a:latin typeface="Arial"/>
            </a:endParaRPr>
          </a:p>
          <a:p>
            <a:pPr indent="0">
              <a:lnSpc>
                <a:spcPct val="95000"/>
              </a:lnSpc>
              <a:spcBef>
                <a:spcPts val="1199"/>
              </a:spcBef>
              <a:buNone/>
              <a:tabLst>
                <a:tab algn="l" pos="0"/>
              </a:tabLst>
            </a:pPr>
            <a:r>
              <a:rPr b="0" lang="en-US" sz="1800" spc="-1" strike="noStrike">
                <a:solidFill>
                  <a:schemeClr val="dk2"/>
                </a:solidFill>
                <a:latin typeface="Arial"/>
                <a:ea typeface="Arial"/>
              </a:rPr>
              <a:t>n.memory_node_id,               -- Memory node ID (usually same as node_id)</a:t>
            </a:r>
            <a:endParaRPr b="0" lang="en-US" sz="1800" spc="-1" strike="noStrike">
              <a:solidFill>
                <a:srgbClr val="000000"/>
              </a:solidFill>
              <a:latin typeface="Arial"/>
            </a:endParaRPr>
          </a:p>
          <a:p>
            <a:pPr indent="0">
              <a:lnSpc>
                <a:spcPct val="95000"/>
              </a:lnSpc>
              <a:spcBef>
                <a:spcPts val="1199"/>
              </a:spcBef>
              <a:buNone/>
              <a:tabLst>
                <a:tab algn="l" pos="0"/>
              </a:tabLst>
            </a:pPr>
            <a:r>
              <a:rPr b="0" lang="en-US" sz="1800" spc="-1" strike="noStrike">
                <a:solidFill>
                  <a:schemeClr val="dk2"/>
                </a:solidFill>
                <a:latin typeface="Arial"/>
                <a:ea typeface="Arial"/>
              </a:rPr>
              <a:t>n.cpu_count AS node_cpu_count, -- Number of CPUs in this NUMA node</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FROM sys.dm_os_nodes AS n</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JOIN sys.dm_os_schedulers AS s ON n.node_id = s.node_id</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WHERE s.status = 'VISIBLE ONLINE' -- excludes hidden or DAC schedulers</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    </a:t>
            </a:r>
            <a:r>
              <a:rPr b="0" lang="en" sz="1800" spc="-1" strike="noStrike">
                <a:solidFill>
                  <a:schemeClr val="dk2"/>
                </a:solidFill>
                <a:latin typeface="Arial"/>
                <a:ea typeface="Arial"/>
              </a:rPr>
              <a:t>AND s.is_online = 1</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    </a:t>
            </a:r>
            <a:r>
              <a:rPr b="0" lang="en" sz="1800" spc="-1" strike="noStrike">
                <a:solidFill>
                  <a:schemeClr val="dk2"/>
                </a:solidFill>
                <a:latin typeface="Arial"/>
                <a:ea typeface="Arial"/>
              </a:rPr>
              <a:t>AND s.scheduler_id &lt; 1048576 -- filters out internal schedulers</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99" name="PlaceHolder 2"/>
          <p:cNvSpPr>
            <a:spLocks noGrp="1"/>
          </p:cNvSpPr>
          <p:nvPr>
            <p:ph/>
          </p:nvPr>
        </p:nvSpPr>
        <p:spPr>
          <a:xfrm>
            <a:off x="311760" y="1152360"/>
            <a:ext cx="8520120" cy="3416040"/>
          </a:xfrm>
          <a:prstGeom prst="rect">
            <a:avLst/>
          </a:prstGeom>
          <a:noFill/>
          <a:ln w="0">
            <a:noFill/>
          </a:ln>
        </p:spPr>
        <p:txBody>
          <a:bodyPr lIns="91440" rIns="91440" tIns="91440" bIns="91440" anchor="t">
            <a:noAutofit/>
          </a:bodyPr>
          <a:p>
            <a:pPr indent="0">
              <a:lnSpc>
                <a:spcPct val="95000"/>
              </a:lnSpc>
              <a:buNone/>
              <a:tabLst>
                <a:tab algn="l" pos="0"/>
              </a:tabLst>
            </a:pPr>
            <a:r>
              <a:rPr b="0" lang="en" sz="1800" spc="-1" strike="noStrike">
                <a:solidFill>
                  <a:schemeClr val="dk2"/>
                </a:solidFill>
                <a:latin typeface="Arial"/>
                <a:ea typeface="Arial"/>
              </a:rPr>
              <a:t>MAXDOP</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SQL Server 2019 (15.x) introduced automatic recommendations for MAXDOP in the installer. It detects the NUMA for you and makes a recommendation.</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a:solidFill>
                  <a:schemeClr val="dk2"/>
                </a:solidFill>
                <a:latin typeface="Arial"/>
                <a:ea typeface="Arial"/>
              </a:rPr>
              <a:t>If you want more gritty details, check out this blog post.</a:t>
            </a:r>
            <a:endParaRPr b="0" lang="en-US" sz="1800" spc="-1" strike="noStrike">
              <a:solidFill>
                <a:srgbClr val="000000"/>
              </a:solidFill>
              <a:latin typeface="Arial"/>
            </a:endParaRPr>
          </a:p>
          <a:p>
            <a:pPr indent="0">
              <a:lnSpc>
                <a:spcPct val="95000"/>
              </a:lnSpc>
              <a:spcBef>
                <a:spcPts val="1199"/>
              </a:spcBef>
              <a:buNone/>
              <a:tabLst>
                <a:tab algn="l" pos="0"/>
              </a:tabLst>
            </a:pPr>
            <a:r>
              <a:rPr b="0" lang="en" sz="1800" spc="-1" strike="noStrike" u="sng">
                <a:solidFill>
                  <a:schemeClr val="dk2"/>
                </a:solidFill>
                <a:uFillTx/>
                <a:latin typeface="Arial"/>
                <a:ea typeface="Arial"/>
                <a:hlinkClick r:id="rId1"/>
              </a:rPr>
              <a:t>https://erikdarling.com/thoughts-on-maxdop/</a:t>
            </a:r>
            <a:r>
              <a:rPr b="0" lang="en" sz="1800" spc="-1" strike="noStrike">
                <a:solidFill>
                  <a:schemeClr val="dk2"/>
                </a:solidFill>
                <a:latin typeface="Arial"/>
                <a:ea typeface="Arial"/>
              </a:rPr>
              <a:t> </a:t>
            </a:r>
            <a:endParaRPr b="0" lang="en-US" sz="1800" spc="-1" strike="noStrike">
              <a:solidFill>
                <a:srgbClr val="000000"/>
              </a:solidFill>
              <a:latin typeface="Arial"/>
            </a:endParaRPr>
          </a:p>
          <a:p>
            <a:pPr indent="0">
              <a:lnSpc>
                <a:spcPct val="95000"/>
              </a:lnSpc>
              <a:spcBef>
                <a:spcPts val="1199"/>
              </a:spcBef>
              <a:buNone/>
              <a:tabLst>
                <a:tab algn="l" pos="0"/>
              </a:tabLst>
            </a:pPr>
            <a:endParaRPr b="0" lang="en-US" sz="1829"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8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01"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COST THRESHOLD FOR PARALLELISM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03"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CTFP</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This setting is the minimum estimated cost a query must reach in order for SQL Server to consider parallel plans.</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The current default is 5. It comes from the 90’s when a person at Microsoft set the value based on how long a query took to run on their hardware.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0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CTFP</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Why is a default of 5 too low? </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Advancements in hardware mean that a “big, costly” query in the 90’s is a TINY, LOW COST query now. An average query now has a cost that is much larger than in the 90’s and so it will go parallel when CTFP is set to 5. This results in queries going parallel that don’t need to.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07"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CTFP</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A common guideline is to set CTFP to 50</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u="sng">
                <a:solidFill>
                  <a:schemeClr val="hlink"/>
                </a:solidFill>
                <a:uFillTx/>
                <a:latin typeface="Arial"/>
                <a:ea typeface="Arial"/>
                <a:hlinkClick r:id="rId1"/>
              </a:rPr>
              <a:t>https://bit.ly/4dPuL5l</a:t>
            </a:r>
            <a:r>
              <a:rPr b="0" lang="en" sz="1800" spc="-1" strike="noStrike">
                <a:solidFill>
                  <a:schemeClr val="dk2"/>
                </a:solidFill>
                <a:latin typeface="Arial"/>
                <a:ea typeface="Arial"/>
              </a:rPr>
              <a:t> </a:t>
            </a:r>
            <a:r>
              <a:rPr b="0" lang="en" sz="1800" spc="-1" strike="noStrike">
                <a:solidFill>
                  <a:schemeClr val="dk1"/>
                </a:solidFill>
                <a:latin typeface="Arial"/>
                <a:ea typeface="Arial"/>
              </a:rPr>
              <a:t>Eitan Blumin's blog</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Querying the plan cache to see what queries go parallel at a certain cost threshold</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0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11"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Poor default of 2 Petabytes(2000 Terabytes) - This default can cause memory pressure with the OS</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13" name="PlaceHolder 2"/>
          <p:cNvSpPr>
            <a:spLocks noGrp="1"/>
          </p:cNvSpPr>
          <p:nvPr>
            <p:ph/>
          </p:nvPr>
        </p:nvSpPr>
        <p:spPr>
          <a:xfrm>
            <a:off x="311760" y="1152360"/>
            <a:ext cx="8782920" cy="399060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100" spc="-1" strike="noStrike">
                <a:solidFill>
                  <a:schemeClr val="dk1"/>
                </a:solidFill>
                <a:latin typeface="Arial"/>
                <a:ea typeface="Arial"/>
              </a:rPr>
              <a:t>Photo by</a:t>
            </a:r>
            <a:r>
              <a:rPr b="0" lang="en" sz="1100" spc="-1" strike="noStrike" u="sng">
                <a:solidFill>
                  <a:schemeClr val="dk1"/>
                </a:solidFill>
                <a:uFillTx/>
                <a:latin typeface="Arial"/>
                <a:ea typeface="Arial"/>
                <a:hlinkClick r:id="rId1"/>
              </a:rPr>
              <a:t> </a:t>
            </a:r>
            <a:r>
              <a:rPr b="0" lang="en" sz="1100" spc="-1" strike="noStrike" u="sng">
                <a:solidFill>
                  <a:schemeClr val="hlink"/>
                </a:solidFill>
                <a:uFillTx/>
                <a:latin typeface="Arial"/>
                <a:ea typeface="Arial"/>
                <a:hlinkClick r:id="rId2"/>
              </a:rPr>
              <a:t>Hermes Rivera</a:t>
            </a:r>
            <a:r>
              <a:rPr b="0" lang="en" sz="1100" spc="-1" strike="noStrike">
                <a:solidFill>
                  <a:schemeClr val="dk1"/>
                </a:solidFill>
                <a:latin typeface="Arial"/>
                <a:ea typeface="Arial"/>
              </a:rPr>
              <a:t> on</a:t>
            </a:r>
            <a:r>
              <a:rPr b="0" lang="en" sz="1100" spc="-1" strike="noStrike" u="sng">
                <a:solidFill>
                  <a:schemeClr val="dk1"/>
                </a:solidFill>
                <a:uFillTx/>
                <a:latin typeface="Arial"/>
                <a:ea typeface="Arial"/>
                <a:hlinkClick r:id="rId3"/>
              </a:rPr>
              <a:t> </a:t>
            </a:r>
            <a:r>
              <a:rPr b="0" lang="en" sz="1100" spc="-1" strike="noStrike" u="sng">
                <a:solidFill>
                  <a:schemeClr val="hlink"/>
                </a:solidFill>
                <a:uFillTx/>
                <a:latin typeface="Arial"/>
                <a:ea typeface="Arial"/>
                <a:hlinkClick r:id="rId4"/>
              </a:rPr>
              <a:t>Unsplash</a:t>
            </a:r>
            <a:r>
              <a:rPr b="0" lang="en" sz="1100" spc="-1" strike="noStrike">
                <a:solidFill>
                  <a:schemeClr val="dk1"/>
                </a:solidFill>
                <a:latin typeface="Arial"/>
                <a:ea typeface="Arial"/>
              </a:rPr>
              <a:t> </a:t>
            </a:r>
            <a:endParaRPr b="0" lang="en-US" sz="11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pic>
        <p:nvPicPr>
          <p:cNvPr id="114" name="Google Shape;164;p30" descr=""/>
          <p:cNvPicPr/>
          <p:nvPr/>
        </p:nvPicPr>
        <p:blipFill>
          <a:blip r:embed="rId5"/>
          <a:stretch/>
        </p:blipFill>
        <p:spPr>
          <a:xfrm>
            <a:off x="2742480" y="1242720"/>
            <a:ext cx="6401160" cy="42663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16" name="PlaceHolder 2"/>
          <p:cNvSpPr>
            <a:spLocks noGrp="1"/>
          </p:cNvSpPr>
          <p:nvPr>
            <p:ph/>
          </p:nvPr>
        </p:nvSpPr>
        <p:spPr>
          <a:xfrm>
            <a:off x="311760" y="1155600"/>
            <a:ext cx="8520120" cy="38948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A significant part of SQL Server process memory has been paged out. This may result in a performance degradation. Duration: %d seconds. Working set (KB): %I64d, committed (KB): %I64d, memory utilization: %d%%.</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18" name="PlaceHolder 2"/>
          <p:cNvSpPr>
            <a:spLocks noGrp="1"/>
          </p:cNvSpPr>
          <p:nvPr>
            <p:ph/>
          </p:nvPr>
        </p:nvSpPr>
        <p:spPr>
          <a:xfrm>
            <a:off x="311760" y="1155600"/>
            <a:ext cx="8520120" cy="38948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u="sng">
                <a:solidFill>
                  <a:schemeClr val="hlink"/>
                </a:solidFill>
                <a:uFillTx/>
                <a:latin typeface="Arial"/>
                <a:ea typeface="Arial"/>
                <a:hlinkClick r:id="rId1"/>
              </a:rPr>
              <a:t>https://bit.ly/3Mv9csa</a:t>
            </a:r>
            <a:r>
              <a:rPr b="0" lang="en" sz="1800" spc="-1" strike="noStrike">
                <a:solidFill>
                  <a:schemeClr val="dk2"/>
                </a:solidFill>
                <a:latin typeface="Arial"/>
                <a:ea typeface="Arial"/>
              </a:rPr>
              <a:t>: Identifying-external-memory-pressure Jonathan Kehayias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RESOURCE_MEM_PHYSICAL_LOW indicators in the ring buffer for Process (internal) and System(external) causes.</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20"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Installer now lets you set a more reasonable recommendation</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pic>
        <p:nvPicPr>
          <p:cNvPr id="121" name="Google Shape;177;p32" descr=""/>
          <p:cNvPicPr/>
          <p:nvPr/>
        </p:nvPicPr>
        <p:blipFill>
          <a:blip r:embed="rId1"/>
          <a:stretch/>
        </p:blipFill>
        <p:spPr>
          <a:xfrm>
            <a:off x="2045160" y="2012760"/>
            <a:ext cx="4549320" cy="29289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23"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4000"/>
              </a:lnSpc>
              <a:spcBef>
                <a:spcPts val="1199"/>
              </a:spcBef>
              <a:buNone/>
              <a:tabLst>
                <a:tab algn="l" pos="0"/>
              </a:tabLst>
            </a:pP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What about your SQL Servers that are already installed?</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2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How to view current settings and the recommendation for Max Server Memory across your environment:</a:t>
            </a: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Based on Jonathan Kehayias's memory calculation methodology</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$sqlinstances = get-content -path “C:\MyDocuments\SQLServerList.txt”</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$sqlinstances | test-dbamaxmemory</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27"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How to set the Max Server Memory across your environment:</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$sqlinstances = get-content -path “C:\MyDocuments\SQLServerList.txt”</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$sqlinstances | set-dbamaxmemory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This can also be done using Get-DbaRegServer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Server Level Settings</a:t>
            </a:r>
            <a:endParaRPr b="0" lang="en-US" sz="2800" spc="-1" strike="noStrike">
              <a:solidFill>
                <a:srgbClr val="000000"/>
              </a:solidFill>
              <a:latin typeface="Arial"/>
            </a:endParaRPr>
          </a:p>
        </p:txBody>
      </p:sp>
      <p:sp>
        <p:nvSpPr>
          <p:cNvPr id="12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MAX Server Memory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Why memory is so critical to SQL Server performance:</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Allocate too much and OS memory pressure happens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Allocate too little and you could strain storage and make queries slower</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Allocate too little and you could cause resource-semaphore waits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Buttons Levers and Dials</a:t>
            </a:r>
            <a:endParaRPr b="0" lang="en-US" sz="2800" spc="-1" strike="noStrike">
              <a:solidFill>
                <a:srgbClr val="000000"/>
              </a:solidFill>
              <a:latin typeface="Arial"/>
            </a:endParaRPr>
          </a:p>
        </p:txBody>
      </p:sp>
      <p:sp>
        <p:nvSpPr>
          <p:cNvPr id="131"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Database Level Settings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33"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QUERY STORE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3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fontScale="93333"/>
          </a:bodyPr>
          <a:p>
            <a:pPr indent="0">
              <a:lnSpc>
                <a:spcPct val="115000"/>
              </a:lnSpc>
              <a:buNone/>
              <a:tabLst>
                <a:tab algn="l" pos="0"/>
              </a:tabLst>
            </a:pPr>
            <a:r>
              <a:rPr b="0" lang="en" sz="1800" spc="-1" strike="noStrike">
                <a:solidFill>
                  <a:schemeClr val="dk2"/>
                </a:solidFill>
                <a:latin typeface="Arial"/>
                <a:ea typeface="Arial"/>
              </a:rPr>
              <a:t>Query Store</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Stores query runtime performance from the perspective of cpu, duration, logical reads and other metrics</a:t>
            </a: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Captures execution plans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Wait Stats information is available in SQL Server 2017 and above</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Custom Capture Policies in 2019 allow for more control over what/how much is captured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37"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Query Store</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In SQL Server 2022, can apply query hints without changing the code</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Allows you to detect regression and force “good query plans”</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Involved in IQP features: DOP Feedback, Memory Grant Feedback, and others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3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Query Store</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Query_Store_Capture_Mode: Determines the behavior Query Store uses to capture queries.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Default is ALL for 2016/2017(change this to auto!!)</a:t>
            </a: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Auto is default in 2019 and higher</a:t>
            </a: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Custom Mode available in 2019.</a:t>
            </a:r>
            <a:endParaRPr b="0" lang="en-US" sz="1800" spc="-1" strike="noStrike">
              <a:solidFill>
                <a:srgbClr val="000000"/>
              </a:solidFill>
              <a:latin typeface="Arial"/>
            </a:endParaRPr>
          </a:p>
          <a:p>
            <a:pPr indent="0">
              <a:lnSpc>
                <a:spcPct val="90000"/>
              </a:lnSpc>
              <a:spcBef>
                <a:spcPts val="1199"/>
              </a:spcBef>
              <a:buNone/>
              <a:tabLst>
                <a:tab algn="l" pos="0"/>
              </a:tabLst>
            </a:pPr>
            <a:endParaRPr b="0" lang="en-US" sz="1800" spc="-1" strike="noStrike">
              <a:solidFill>
                <a:srgbClr val="000000"/>
              </a:solidFill>
              <a:latin typeface="Arial"/>
            </a:endParaRPr>
          </a:p>
          <a:p>
            <a:pPr indent="0">
              <a:lnSpc>
                <a:spcPct val="115000"/>
              </a:lnSpc>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41"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Query Store</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rgbClr val="595959"/>
                </a:solidFill>
                <a:latin typeface="Arial"/>
                <a:ea typeface="Arial"/>
              </a:rPr>
              <a:t>Max_Storage_Size_MB: The largest size query store can grow to on disk. Defaults are too small for most scenarios(100 MB in 2016/17, 1000 MB in 2019)</a:t>
            </a:r>
            <a:endParaRPr b="0" lang="en-US" sz="1800" spc="-1" strike="noStrike">
              <a:solidFill>
                <a:srgbClr val="000000"/>
              </a:solidFill>
              <a:latin typeface="Arial"/>
            </a:endParaRPr>
          </a:p>
          <a:p>
            <a:pPr indent="0">
              <a:lnSpc>
                <a:spcPct val="114000"/>
              </a:lnSpc>
              <a:spcBef>
                <a:spcPts val="1199"/>
              </a:spcBef>
              <a:buNone/>
              <a:tabLst>
                <a:tab algn="l" pos="0"/>
              </a:tabLst>
            </a:pP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rgbClr val="595959"/>
                </a:solidFill>
                <a:latin typeface="Arial"/>
                <a:ea typeface="Arial"/>
              </a:rPr>
              <a:t>This setting will trigger auto-cleanup of old data once a certain free space threshold is reached.</a:t>
            </a:r>
            <a:endParaRPr b="0" lang="en-US" sz="1800" spc="-1" strike="noStrike">
              <a:solidFill>
                <a:srgbClr val="000000"/>
              </a:solidFill>
              <a:latin typeface="Arial"/>
            </a:endParaRPr>
          </a:p>
          <a:p>
            <a:pPr indent="0">
              <a:lnSpc>
                <a:spcPct val="90000"/>
              </a:lnSpc>
              <a:spcBef>
                <a:spcPts val="1199"/>
              </a:spcBef>
              <a:buNone/>
              <a:tabLst>
                <a:tab algn="l" pos="0"/>
              </a:tabLst>
            </a:pPr>
            <a:endParaRPr b="0" lang="en-US" sz="1800" spc="-1" strike="noStrike">
              <a:solidFill>
                <a:srgbClr val="000000"/>
              </a:solidFill>
              <a:latin typeface="Arial"/>
            </a:endParaRPr>
          </a:p>
          <a:p>
            <a:pPr indent="0">
              <a:lnSpc>
                <a:spcPct val="115000"/>
              </a:lnSpc>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43" name="PlaceHolder 2"/>
          <p:cNvSpPr>
            <a:spLocks noGrp="1"/>
          </p:cNvSpPr>
          <p:nvPr>
            <p:ph/>
          </p:nvPr>
        </p:nvSpPr>
        <p:spPr>
          <a:xfrm>
            <a:off x="311760" y="1152360"/>
            <a:ext cx="8520120" cy="37706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sys.database_scoped_configurations</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What are they?</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How can you see what the options are?</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SELECT configuration_id, name, value, value_for_secondary</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FROM sys.database_scoped_configurations;</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4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1800" spc="-1" strike="noStrike">
                <a:solidFill>
                  <a:schemeClr val="dk2"/>
                </a:solidFill>
                <a:latin typeface="Arial"/>
                <a:ea typeface="Arial"/>
              </a:rPr>
              <a:t>COMPATIBILITY LEVEL/LEGACY CARDINALITY ESTIMATION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47"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Compat Level/Legacy Cardinality Estimation</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Compatibility Level controls the feature set the database uses. For example, what T-SQL features are available to use, what trace flags, query optimization, and processing features are accessible.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4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Compat Level/Legacy Cardinality Estimation</a:t>
            </a:r>
            <a:endParaRPr b="0" lang="en-US" sz="1800" spc="-1" strike="noStrike">
              <a:solidFill>
                <a:srgbClr val="000000"/>
              </a:solidFill>
              <a:latin typeface="Arial"/>
            </a:endParaRPr>
          </a:p>
          <a:p>
            <a:pPr indent="0">
              <a:lnSpc>
                <a:spcPct val="90000"/>
              </a:lnSpc>
              <a:spcBef>
                <a:spcPts val="1199"/>
              </a:spcBef>
              <a:buNone/>
              <a:tabLst>
                <a:tab algn="l" pos="0"/>
              </a:tabLst>
            </a:pPr>
            <a:r>
              <a:rPr b="0" lang="en" sz="1800" spc="-1" strike="noStrike" u="sng">
                <a:solidFill>
                  <a:srgbClr val="0563c1"/>
                </a:solidFill>
                <a:uFillTx/>
                <a:latin typeface="Arial"/>
                <a:ea typeface="Arial"/>
                <a:hlinkClick r:id="rId1"/>
              </a:rPr>
              <a:t>https://bit.ly/3C0Zn1B</a:t>
            </a:r>
            <a:r>
              <a:rPr b="0" lang="en" sz="1200" spc="-1" strike="noStrike">
                <a:solidFill>
                  <a:schemeClr val="dk2"/>
                </a:solidFill>
                <a:latin typeface="Arial"/>
                <a:ea typeface="Arial"/>
              </a:rPr>
              <a:t> </a:t>
            </a:r>
            <a:r>
              <a:rPr b="0" lang="en" sz="1800" spc="-1" strike="noStrike">
                <a:solidFill>
                  <a:schemeClr val="dk2"/>
                </a:solidFill>
                <a:latin typeface="Arial"/>
                <a:ea typeface="Arial"/>
              </a:rPr>
              <a:t>IQP Summary MS Learn. Certain compat levels are needed </a:t>
            </a:r>
            <a:endParaRPr b="0" lang="en-US" sz="1800" spc="-1" strike="noStrike">
              <a:solidFill>
                <a:srgbClr val="000000"/>
              </a:solidFill>
              <a:latin typeface="Arial"/>
            </a:endParaRPr>
          </a:p>
          <a:p>
            <a:pPr indent="0">
              <a:lnSpc>
                <a:spcPct val="90000"/>
              </a:lnSpc>
              <a:buNone/>
              <a:tabLst>
                <a:tab algn="l" pos="0"/>
              </a:tabLst>
            </a:pPr>
            <a:endParaRPr b="0" lang="en-US" sz="1800" spc="-1" strike="noStrike">
              <a:solidFill>
                <a:srgbClr val="000000"/>
              </a:solidFill>
              <a:latin typeface="Arial"/>
            </a:endParaRPr>
          </a:p>
          <a:p>
            <a:pPr indent="0">
              <a:lnSpc>
                <a:spcPct val="90000"/>
              </a:lnSpc>
              <a:buNone/>
              <a:tabLst>
                <a:tab algn="l" pos="0"/>
              </a:tabLst>
            </a:pPr>
            <a:endParaRPr b="0" lang="en-US" sz="1800" spc="-1" strike="noStrike">
              <a:solidFill>
                <a:srgbClr val="000000"/>
              </a:solidFill>
              <a:latin typeface="Arial"/>
            </a:endParaRPr>
          </a:p>
        </p:txBody>
      </p:sp>
      <p:pic>
        <p:nvPicPr>
          <p:cNvPr id="150" name="Google Shape;292;p51" descr=""/>
          <p:cNvPicPr/>
          <p:nvPr/>
        </p:nvPicPr>
        <p:blipFill>
          <a:blip r:embed="rId2"/>
          <a:stretch/>
        </p:blipFill>
        <p:spPr>
          <a:xfrm>
            <a:off x="650160" y="2036160"/>
            <a:ext cx="7479360" cy="307296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5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Compat Level/Legacy Cardinality Estimation</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The Cardinality Estimator controls the logic the engine uses to create query plans. </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Why does this matter? Anyone remember what happened in 2014?</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54"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Compat Level/Legacy Cardinality Estimation</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SQL Server 2016 introduced database scoped configurations. One of those was Legacy Cardinality Estimation so workloads would have their query plans created in the same way as before, even on newer compat levels. </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Use this setting when migrating older databases to newer versions of SQL 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56" name="PlaceHolder 2"/>
          <p:cNvSpPr>
            <a:spLocks noGrp="1"/>
          </p:cNvSpPr>
          <p:nvPr>
            <p:ph/>
          </p:nvPr>
        </p:nvSpPr>
        <p:spPr>
          <a:xfrm>
            <a:off x="311760" y="1152360"/>
            <a:ext cx="8520120" cy="37706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sys.database_scoped_configurations</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LEGACY_CARDINALITY_ESTIMATION:</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LIGHTWEIGHT_QUERY_PROFILING: Query performance and progress for in-flight queries. Can help you determine when index rebuilds will finish.</a:t>
            </a:r>
            <a:endParaRPr b="0" lang="en-US" sz="1800" spc="-1" strike="noStrike">
              <a:solidFill>
                <a:srgbClr val="000000"/>
              </a:solidFill>
              <a:latin typeface="Arial"/>
            </a:endParaRPr>
          </a:p>
          <a:p>
            <a:pPr indent="0">
              <a:lnSpc>
                <a:spcPct val="115000"/>
              </a:lnSpc>
              <a:spcBef>
                <a:spcPts val="1191"/>
              </a:spcBef>
              <a:spcAft>
                <a:spcPts val="992"/>
              </a:spcAft>
              <a:buNone/>
              <a:tabLst>
                <a:tab algn="l" pos="0"/>
              </a:tabLst>
            </a:pPr>
            <a:r>
              <a:rPr b="0" lang="en" sz="1800" spc="-1" strike="noStrike">
                <a:solidFill>
                  <a:schemeClr val="dk2"/>
                </a:solidFill>
                <a:latin typeface="Arial"/>
                <a:ea typeface="Arial"/>
              </a:rPr>
              <a:t>LAST_QUERY_PLAN_STATS/SYS.DM_EXEC_QUERY_PLAN_STATS: These are used in combination to retrieve the last known actual plan for a query.</a:t>
            </a:r>
            <a:endParaRPr b="1"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58" name="PlaceHolder 2"/>
          <p:cNvSpPr>
            <a:spLocks noGrp="1"/>
          </p:cNvSpPr>
          <p:nvPr>
            <p:ph/>
          </p:nvPr>
        </p:nvSpPr>
        <p:spPr>
          <a:xfrm>
            <a:off x="311760" y="1152360"/>
            <a:ext cx="8520120" cy="37706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sys.database_scoped_configurations</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DOP_FEEDBACK:</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MEMORY_GRANT_FEEDBACK:</a:t>
            </a:r>
            <a:endParaRPr b="0" lang="en-US" sz="1800" spc="-1" strike="noStrike">
              <a:solidFill>
                <a:srgbClr val="000000"/>
              </a:solidFill>
              <a:latin typeface="Arial"/>
            </a:endParaRPr>
          </a:p>
          <a:p>
            <a:pPr indent="0">
              <a:lnSpc>
                <a:spcPct val="114000"/>
              </a:lnSpc>
              <a:spcBef>
                <a:spcPts val="1199"/>
              </a:spcBef>
              <a:buNone/>
              <a:tabLst>
                <a:tab algn="l" pos="0"/>
              </a:tabLst>
            </a:pPr>
            <a:r>
              <a:rPr b="0" lang="en" sz="1800" spc="-1" strike="noStrike">
                <a:solidFill>
                  <a:schemeClr val="dk2"/>
                </a:solidFill>
                <a:latin typeface="Arial"/>
                <a:ea typeface="Arial"/>
              </a:rPr>
              <a:t>CE_FEEDBACK:</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Database Level Settings</a:t>
            </a:r>
            <a:endParaRPr b="0" lang="en-US" sz="2800" spc="-1" strike="noStrike">
              <a:solidFill>
                <a:srgbClr val="000000"/>
              </a:solidFill>
              <a:latin typeface="Arial"/>
            </a:endParaRPr>
          </a:p>
        </p:txBody>
      </p:sp>
      <p:sp>
        <p:nvSpPr>
          <p:cNvPr id="160" name="PlaceHolder 2"/>
          <p:cNvSpPr>
            <a:spLocks noGrp="1"/>
          </p:cNvSpPr>
          <p:nvPr>
            <p:ph/>
          </p:nvPr>
        </p:nvSpPr>
        <p:spPr>
          <a:xfrm>
            <a:off x="311760" y="1152360"/>
            <a:ext cx="8520120" cy="3990600"/>
          </a:xfrm>
          <a:prstGeom prst="rect">
            <a:avLst/>
          </a:prstGeom>
          <a:noFill/>
          <a:ln w="0">
            <a:noFill/>
          </a:ln>
        </p:spPr>
        <p:txBody>
          <a:bodyPr lIns="91440" rIns="91440" tIns="91440" bIns="91440" anchor="t">
            <a:normAutofit fontScale="75000" lnSpcReduction="10000"/>
          </a:bodyPr>
          <a:p>
            <a:pPr indent="0">
              <a:lnSpc>
                <a:spcPct val="115000"/>
              </a:lnSpc>
              <a:buNone/>
              <a:tabLst>
                <a:tab algn="l" pos="0"/>
              </a:tabLst>
            </a:pPr>
            <a:r>
              <a:rPr b="0" lang="en" sz="2550" spc="-1" strike="noStrike">
                <a:solidFill>
                  <a:schemeClr val="dk2"/>
                </a:solidFill>
                <a:latin typeface="Arial"/>
                <a:ea typeface="Arial"/>
              </a:rPr>
              <a:t>sys.database_scoped_configurations</a:t>
            </a:r>
            <a:endParaRPr b="0" lang="en-US" sz="2550" spc="-1" strike="noStrike">
              <a:solidFill>
                <a:srgbClr val="000000"/>
              </a:solidFill>
              <a:latin typeface="Arial"/>
            </a:endParaRPr>
          </a:p>
          <a:p>
            <a:pPr indent="0">
              <a:lnSpc>
                <a:spcPct val="115000"/>
              </a:lnSpc>
              <a:spcBef>
                <a:spcPts val="1199"/>
              </a:spcBef>
              <a:buNone/>
              <a:tabLst>
                <a:tab algn="l" pos="0"/>
              </a:tabLst>
            </a:pPr>
            <a:endParaRPr b="0" lang="en-US" sz="2550" spc="-1" strike="noStrike">
              <a:solidFill>
                <a:srgbClr val="000000"/>
              </a:solidFill>
              <a:latin typeface="Arial"/>
            </a:endParaRPr>
          </a:p>
          <a:p>
            <a:pPr indent="0">
              <a:lnSpc>
                <a:spcPct val="115000"/>
              </a:lnSpc>
              <a:spcBef>
                <a:spcPts val="1199"/>
              </a:spcBef>
              <a:buNone/>
              <a:tabLst>
                <a:tab algn="l" pos="0"/>
              </a:tabLst>
            </a:pPr>
            <a:r>
              <a:rPr b="0" lang="en" sz="2550" spc="-1" strike="noStrike">
                <a:solidFill>
                  <a:schemeClr val="dk2"/>
                </a:solidFill>
                <a:latin typeface="Arial"/>
                <a:ea typeface="Arial"/>
              </a:rPr>
              <a:t>How to change the database scoped configurations?</a:t>
            </a:r>
            <a:endParaRPr b="0" lang="en-US" sz="2550" spc="-1" strike="noStrike">
              <a:solidFill>
                <a:srgbClr val="000000"/>
              </a:solidFill>
              <a:latin typeface="Arial"/>
            </a:endParaRPr>
          </a:p>
          <a:p>
            <a:pPr indent="0">
              <a:lnSpc>
                <a:spcPct val="115000"/>
              </a:lnSpc>
              <a:spcBef>
                <a:spcPts val="1199"/>
              </a:spcBef>
              <a:buNone/>
              <a:tabLst>
                <a:tab algn="l" pos="0"/>
              </a:tabLst>
            </a:pPr>
            <a:endParaRPr b="0" lang="en-US" sz="2550" spc="-1" strike="noStrike">
              <a:solidFill>
                <a:srgbClr val="000000"/>
              </a:solidFill>
              <a:latin typeface="Arial"/>
            </a:endParaRPr>
          </a:p>
          <a:p>
            <a:pPr indent="0">
              <a:lnSpc>
                <a:spcPct val="115000"/>
              </a:lnSpc>
              <a:spcBef>
                <a:spcPts val="1199"/>
              </a:spcBef>
              <a:buNone/>
              <a:tabLst>
                <a:tab algn="l" pos="0"/>
              </a:tabLst>
            </a:pPr>
            <a:r>
              <a:rPr b="0" lang="en" sz="2550" spc="-1" strike="noStrike">
                <a:solidFill>
                  <a:schemeClr val="dk2"/>
                </a:solidFill>
                <a:latin typeface="Arial"/>
                <a:ea typeface="Arial"/>
              </a:rPr>
              <a:t>ALTER DATABASE SCOPED CONFIGURATION SET featurenamehere = ON;</a:t>
            </a:r>
            <a:endParaRPr b="0" lang="en-US" sz="2550" spc="-1" strike="noStrike">
              <a:solidFill>
                <a:srgbClr val="000000"/>
              </a:solidFill>
              <a:latin typeface="Arial"/>
            </a:endParaRPr>
          </a:p>
          <a:p>
            <a:pPr indent="0">
              <a:lnSpc>
                <a:spcPct val="115000"/>
              </a:lnSpc>
              <a:spcBef>
                <a:spcPts val="1199"/>
              </a:spcBef>
              <a:buNone/>
              <a:tabLst>
                <a:tab algn="l" pos="0"/>
              </a:tabLst>
            </a:pPr>
            <a:endParaRPr b="0" lang="en-US" sz="2550" spc="-1" strike="noStrike">
              <a:solidFill>
                <a:srgbClr val="000000"/>
              </a:solidFill>
              <a:latin typeface="Arial"/>
            </a:endParaRPr>
          </a:p>
          <a:p>
            <a:pPr indent="0">
              <a:lnSpc>
                <a:spcPct val="115000"/>
              </a:lnSpc>
              <a:spcBef>
                <a:spcPts val="1199"/>
              </a:spcBef>
              <a:buNone/>
              <a:tabLst>
                <a:tab algn="l" pos="0"/>
              </a:tabLst>
            </a:pPr>
            <a:r>
              <a:rPr b="0" lang="en" sz="2550" spc="-1" strike="noStrike" u="sng">
                <a:solidFill>
                  <a:schemeClr val="hlink"/>
                </a:solidFill>
                <a:uFillTx/>
                <a:latin typeface="Arial"/>
                <a:ea typeface="Arial"/>
                <a:hlinkClick r:id="rId1"/>
              </a:rPr>
              <a:t>https://www.sqlskills.com/blogs/jonathan/logging-database-scoped-configuration-changes/</a:t>
            </a:r>
            <a:r>
              <a:rPr b="0" lang="en" sz="2550" spc="-1" strike="noStrike">
                <a:solidFill>
                  <a:schemeClr val="dk2"/>
                </a:solidFill>
                <a:latin typeface="Arial"/>
                <a:ea typeface="Arial"/>
              </a:rPr>
              <a:t> </a:t>
            </a:r>
            <a:endParaRPr b="0" lang="en-US" sz="255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Buttons Levers and Dials</a:t>
            </a:r>
            <a:endParaRPr b="0" lang="en-US" sz="2800" spc="-1" strike="noStrike">
              <a:solidFill>
                <a:srgbClr val="000000"/>
              </a:solidFill>
              <a:latin typeface="Arial"/>
            </a:endParaRPr>
          </a:p>
        </p:txBody>
      </p:sp>
      <p:sp>
        <p:nvSpPr>
          <p:cNvPr id="16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n" sz="1800" spc="-1" strike="noStrike">
                <a:solidFill>
                  <a:schemeClr val="dk2"/>
                </a:solidFill>
                <a:latin typeface="Arial"/>
                <a:ea typeface="Arial"/>
              </a:rPr>
              <a:t>Other Settings to Think About:</a:t>
            </a:r>
            <a:endParaRPr b="0" lang="en-US" sz="1800" spc="-1" strike="noStrike">
              <a:solidFill>
                <a:srgbClr val="000000"/>
              </a:solidFill>
              <a:latin typeface="Arial"/>
            </a:endParaRPr>
          </a:p>
          <a:p>
            <a:pPr indent="0">
              <a:lnSpc>
                <a:spcPct val="114000"/>
              </a:lnSpc>
              <a:spcAft>
                <a:spcPts val="1199"/>
              </a:spcAft>
              <a:buNone/>
              <a:tabLst>
                <a:tab algn="l" pos="0"/>
              </a:tabLst>
            </a:pPr>
            <a:endParaRPr b="0" lang="en-US" sz="1800" spc="-1" strike="noStrike">
              <a:solidFill>
                <a:srgbClr val="000000"/>
              </a:solidFill>
              <a:latin typeface="Arial"/>
            </a:endParaRPr>
          </a:p>
          <a:p>
            <a:pPr indent="0">
              <a:lnSpc>
                <a:spcPct val="114000"/>
              </a:lnSpc>
              <a:spcAft>
                <a:spcPts val="1199"/>
              </a:spcAft>
              <a:buNone/>
              <a:tabLst>
                <a:tab algn="l" pos="0"/>
              </a:tabLst>
            </a:pPr>
            <a:r>
              <a:rPr b="0" lang="en" sz="1800" spc="-1" strike="noStrike">
                <a:solidFill>
                  <a:schemeClr val="dk2"/>
                </a:solidFill>
                <a:latin typeface="Arial"/>
                <a:ea typeface="Arial"/>
              </a:rPr>
              <a:t>Accelerated Database Recovery</a:t>
            </a:r>
            <a:endParaRPr b="0" lang="en-US" sz="1800" spc="-1" strike="noStrike">
              <a:solidFill>
                <a:srgbClr val="000000"/>
              </a:solidFill>
              <a:latin typeface="Arial"/>
            </a:endParaRPr>
          </a:p>
          <a:p>
            <a:pPr indent="0">
              <a:lnSpc>
                <a:spcPct val="114000"/>
              </a:lnSpc>
              <a:spcAft>
                <a:spcPts val="1199"/>
              </a:spcAft>
              <a:buNone/>
              <a:tabLst>
                <a:tab algn="l" pos="0"/>
              </a:tabLst>
            </a:pPr>
            <a:r>
              <a:rPr b="0" lang="en" sz="1800" spc="-1" strike="noStrike">
                <a:solidFill>
                  <a:schemeClr val="dk2"/>
                </a:solidFill>
                <a:latin typeface="Arial"/>
                <a:ea typeface="Arial"/>
              </a:rPr>
              <a:t>ZTF Backup Compression </a:t>
            </a:r>
            <a:endParaRPr b="0" lang="en-US" sz="1800" spc="-1" strike="noStrike">
              <a:solidFill>
                <a:srgbClr val="000000"/>
              </a:solidFill>
              <a:latin typeface="Arial"/>
            </a:endParaRPr>
          </a:p>
          <a:p>
            <a:pPr indent="0">
              <a:lnSpc>
                <a:spcPct val="114000"/>
              </a:lnSpc>
              <a:spcAft>
                <a:spcPts val="1199"/>
              </a:spcAft>
              <a:buNone/>
              <a:tabLst>
                <a:tab algn="l" pos="0"/>
              </a:tabLst>
            </a:pPr>
            <a:r>
              <a:rPr b="0" lang="en" sz="1800" spc="-1" strike="noStrike">
                <a:solidFill>
                  <a:schemeClr val="dk2"/>
                </a:solidFill>
                <a:latin typeface="Arial"/>
                <a:ea typeface="Arial"/>
              </a:rPr>
              <a:t>Target Recovery Time(seconds)/Indirect Checkpointing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tabLst>
                <a:tab algn="l" pos="0"/>
              </a:tabLst>
            </a:pPr>
            <a:r>
              <a:rPr b="0" lang="en" sz="2800" spc="-1" strike="noStrike">
                <a:solidFill>
                  <a:schemeClr val="dk1"/>
                </a:solidFill>
                <a:latin typeface="Arial"/>
                <a:ea typeface="Arial"/>
              </a:rPr>
              <a:t>Buttons Levers and Dials</a:t>
            </a:r>
            <a:endParaRPr b="0" lang="en-US" sz="2800" spc="-1" strike="noStrike">
              <a:solidFill>
                <a:srgbClr val="000000"/>
              </a:solidFill>
              <a:latin typeface="Arial"/>
            </a:endParaRPr>
          </a:p>
        </p:txBody>
      </p:sp>
      <p:sp>
        <p:nvSpPr>
          <p:cNvPr id="164"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n" sz="2400" spc="-1" strike="noStrike">
                <a:solidFill>
                  <a:schemeClr val="dk2"/>
                </a:solidFill>
                <a:latin typeface="Arial"/>
                <a:ea typeface="Arial"/>
              </a:rPr>
              <a:t>Questions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gn="ctr">
              <a:lnSpc>
                <a:spcPct val="100000"/>
              </a:lnSpc>
              <a:buNone/>
            </a:pPr>
            <a:r>
              <a:rPr b="0" lang="en" sz="2800" spc="-1" strike="noStrike">
                <a:solidFill>
                  <a:schemeClr val="dk1"/>
                </a:solidFill>
                <a:latin typeface="Arial"/>
                <a:ea typeface="Arial"/>
              </a:rPr>
              <a:t>Contact Info/Slides</a:t>
            </a:r>
            <a:endParaRPr b="0" lang="en-US" sz="2800" spc="-1" strike="noStrike">
              <a:solidFill>
                <a:srgbClr val="000000"/>
              </a:solidFill>
              <a:latin typeface="Arial"/>
            </a:endParaRPr>
          </a:p>
        </p:txBody>
      </p:sp>
      <p:sp>
        <p:nvSpPr>
          <p:cNvPr id="166"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0">
              <a:lnSpc>
                <a:spcPct val="200000"/>
              </a:lnSpc>
              <a:spcBef>
                <a:spcPts val="1199"/>
              </a:spcBef>
              <a:buNone/>
              <a:tabLst>
                <a:tab algn="l" pos="0"/>
              </a:tabLst>
            </a:pPr>
            <a:r>
              <a:rPr b="0" lang="en" sz="1800" spc="-1" strike="noStrike">
                <a:solidFill>
                  <a:schemeClr val="dk2"/>
                </a:solidFill>
                <a:latin typeface="Arial"/>
                <a:ea typeface="Arial"/>
              </a:rPr>
              <a:t>Blog at </a:t>
            </a:r>
            <a:r>
              <a:rPr b="0" lang="en" sz="1800" spc="-1" strike="noStrike" u="sng">
                <a:solidFill>
                  <a:srgbClr val="0097a7"/>
                </a:solidFill>
                <a:uFillTx/>
                <a:latin typeface="Arial"/>
                <a:ea typeface="Arial"/>
                <a:hlinkClick r:id="rId1"/>
              </a:rPr>
              <a:t>https://leemarkum.com</a:t>
            </a:r>
            <a:r>
              <a:rPr b="0" lang="en" sz="1800" spc="-1" strike="noStrike">
                <a:solidFill>
                  <a:schemeClr val="dk2"/>
                </a:solidFill>
                <a:latin typeface="Arial"/>
                <a:ea typeface="Arial"/>
              </a:rPr>
              <a:t> </a:t>
            </a:r>
            <a:endParaRPr b="0" lang="en-US" sz="1800" spc="-1" strike="noStrike">
              <a:solidFill>
                <a:srgbClr val="000000"/>
              </a:solidFill>
              <a:latin typeface="Arial"/>
            </a:endParaRPr>
          </a:p>
          <a:p>
            <a:pPr marL="457200" indent="0">
              <a:lnSpc>
                <a:spcPct val="200000"/>
              </a:lnSpc>
              <a:spcBef>
                <a:spcPts val="1199"/>
              </a:spcBef>
              <a:buNone/>
              <a:tabLst>
                <a:tab algn="l" pos="0"/>
              </a:tabLst>
            </a:pPr>
            <a:r>
              <a:rPr b="0" lang="en" sz="1800" spc="-1" strike="noStrike" u="sng">
                <a:solidFill>
                  <a:schemeClr val="dk2"/>
                </a:solidFill>
                <a:uFillTx/>
                <a:latin typeface="Arial"/>
                <a:ea typeface="Arial"/>
                <a:hlinkClick r:id="rId2"/>
              </a:rPr>
              <a:t>Email:</a:t>
            </a:r>
            <a:r>
              <a:rPr b="0" lang="en" sz="1800" spc="-1" strike="noStrike" u="sng">
                <a:solidFill>
                  <a:schemeClr val="hlink"/>
                </a:solidFill>
                <a:uFillTx/>
                <a:latin typeface="Arial"/>
                <a:ea typeface="Arial"/>
                <a:hlinkClick r:id="rId3"/>
              </a:rPr>
              <a:t>lmarkum@live.com</a:t>
            </a:r>
            <a:endParaRPr b="0" lang="en-US" sz="1800" spc="-1" strike="noStrike">
              <a:solidFill>
                <a:srgbClr val="000000"/>
              </a:solidFill>
              <a:latin typeface="Arial"/>
            </a:endParaRPr>
          </a:p>
          <a:p>
            <a:pPr marL="457200" indent="0">
              <a:lnSpc>
                <a:spcPct val="200000"/>
              </a:lnSpc>
              <a:spcBef>
                <a:spcPts val="1199"/>
              </a:spcBef>
              <a:buNone/>
              <a:tabLst>
                <a:tab algn="l" pos="0"/>
              </a:tabLst>
            </a:pPr>
            <a:r>
              <a:rPr b="0" lang="en" sz="1800" spc="-1" strike="noStrike" u="sng">
                <a:solidFill>
                  <a:srgbClr val="0097a7"/>
                </a:solidFill>
                <a:uFillTx/>
                <a:latin typeface="Arial"/>
                <a:ea typeface="Arial"/>
                <a:hlinkClick r:id="rId4"/>
              </a:rPr>
              <a:t>https://github.com/lmarkum</a:t>
            </a:r>
            <a:r>
              <a:rPr b="0" lang="en" sz="1800" spc="-1" strike="noStrike">
                <a:solidFill>
                  <a:srgbClr val="595959"/>
                </a:solidFill>
                <a:latin typeface="Arial"/>
                <a:ea typeface="Arial"/>
              </a:rPr>
              <a:t> </a:t>
            </a:r>
            <a:endParaRPr b="0" lang="en-US" sz="1800" spc="-1" strike="noStrike">
              <a:solidFill>
                <a:srgbClr val="000000"/>
              </a:solidFill>
              <a:latin typeface="Arial"/>
            </a:endParaRPr>
          </a:p>
          <a:p>
            <a:pPr indent="0">
              <a:lnSpc>
                <a:spcPct val="200000"/>
              </a:lnSpc>
              <a:spcBef>
                <a:spcPts val="1199"/>
              </a:spcBef>
              <a:spcAft>
                <a:spcPts val="119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30</TotalTime>
  <Application>LibreOffice/24.2.7.2$Linux_X86_64 LibreOffice_project/420$Build-2</Application>
  <AppVersion>15.0000</AppVersion>
  <Words>1739</Words>
  <Paragraphs>311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2026-02-16T20:25:29Z</dcterms:modified>
  <cp:revision>346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49</vt:i4>
  </property>
  <property fmtid="{D5CDD505-2E9C-101B-9397-08002B2CF9AE}" pid="4" name="PresentationFormat">
    <vt:lpwstr>On-screen Show (16:9)</vt:lpwstr>
  </property>
  <property fmtid="{D5CDD505-2E9C-101B-9397-08002B2CF9AE}" pid="5" name="Slides">
    <vt:i4>50</vt:i4>
  </property>
</Properties>
</file>